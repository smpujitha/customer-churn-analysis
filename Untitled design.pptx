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67" r:id="rId1"/>
  </p:sldMasterIdLst>
  <p:sldIdLst>
    <p:sldId id="256" r:id="rId2"/>
    <p:sldId id="267" r:id="rId3"/>
    <p:sldId id="257" r:id="rId4"/>
    <p:sldId id="258" r:id="rId5"/>
    <p:sldId id="259" r:id="rId6"/>
    <p:sldId id="260" r:id="rId7"/>
    <p:sldId id="261" r:id="rId8"/>
    <p:sldId id="263" r:id="rId9"/>
    <p:sldId id="264" r:id="rId10"/>
    <p:sldId id="268" r:id="rId11"/>
    <p:sldId id="269" r:id="rId12"/>
    <p:sldId id="270" r:id="rId13"/>
    <p:sldId id="266" r:id="rId14"/>
    <p:sldId id="271" r:id="rId15"/>
    <p:sldId id="265" r:id="rId16"/>
  </p:sldIdLst>
  <p:sldSz cx="18288000" cy="10287000"/>
  <p:notesSz cx="6858000" cy="9144000"/>
  <p:embeddedFontLst>
    <p:embeddedFont>
      <p:font typeface="Algerian" panose="04020705040A02060702" pitchFamily="82" charset="0"/>
      <p:regular r:id="rId17"/>
    </p:embeddedFont>
    <p:embeddedFont>
      <p:font typeface="Garamond" panose="02020404030301010803" pitchFamily="18" charset="0"/>
      <p:regular r:id="rId18"/>
      <p:bold r:id="rId19"/>
      <p:italic r:id="rId20"/>
    </p:embeddedFont>
    <p:embeddedFont>
      <p:font typeface="Heading Now 71-78" panose="020B0604020202020204" charset="0"/>
      <p:regular r:id="rId21"/>
    </p:embeddedFont>
    <p:embeddedFont>
      <p:font typeface="TT Firs Neue" panose="020B0604020202020204" charset="0"/>
      <p:regular r:id="rId22"/>
    </p:embeddedFont>
    <p:embeddedFont>
      <p:font typeface="TT Firs Neue Bold" panose="020B0604020202020204" charset="0"/>
      <p:regular r:id="rId2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556" autoAdjust="0"/>
    <p:restoredTop sz="94622" autoAdjust="0"/>
  </p:normalViewPr>
  <p:slideViewPr>
    <p:cSldViewPr>
      <p:cViewPr varScale="1">
        <p:scale>
          <a:sx n="41" d="100"/>
          <a:sy n="41" d="100"/>
        </p:scale>
        <p:origin x="476"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25401" y="0"/>
            <a:ext cx="18346740" cy="10284321"/>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4038598" y="2806697"/>
            <a:ext cx="10223504" cy="2273300"/>
          </a:xfrm>
        </p:spPr>
        <p:txBody>
          <a:bodyPr anchor="b">
            <a:noAutofit/>
          </a:bodyPr>
          <a:lstStyle>
            <a:lvl1pPr algn="ctr">
              <a:defRPr sz="8100">
                <a:effectLst/>
              </a:defRPr>
            </a:lvl1pPr>
          </a:lstStyle>
          <a:p>
            <a:r>
              <a:rPr lang="en-US"/>
              <a:t>Click to edit Master title style</a:t>
            </a:r>
            <a:endParaRPr lang="en-US" dirty="0"/>
          </a:p>
        </p:txBody>
      </p:sp>
      <p:sp>
        <p:nvSpPr>
          <p:cNvPr id="3" name="Subtitle 2"/>
          <p:cNvSpPr>
            <a:spLocks noGrp="1"/>
          </p:cNvSpPr>
          <p:nvPr>
            <p:ph type="subTitle" idx="1"/>
          </p:nvPr>
        </p:nvSpPr>
        <p:spPr>
          <a:xfrm>
            <a:off x="4038598" y="5486396"/>
            <a:ext cx="10223504" cy="1981203"/>
          </a:xfrm>
        </p:spPr>
        <p:txBody>
          <a:bodyPr anchor="t">
            <a:normAutofit/>
          </a:bodyPr>
          <a:lstStyle>
            <a:lvl1pPr marL="0" indent="0" algn="ctr">
              <a:buNone/>
              <a:defRPr sz="3150">
                <a:solidFill>
                  <a:schemeClr val="tx1"/>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11974849" y="7556495"/>
            <a:ext cx="1346201" cy="419100"/>
          </a:xfrm>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a:xfrm>
            <a:off x="4038596" y="7556495"/>
            <a:ext cx="7821953" cy="419100"/>
          </a:xfrm>
        </p:spPr>
        <p:txBody>
          <a:bodyPr/>
          <a:lstStyle/>
          <a:p>
            <a:endParaRPr lang="en-US"/>
          </a:p>
        </p:txBody>
      </p:sp>
      <p:sp>
        <p:nvSpPr>
          <p:cNvPr id="6" name="Slide Number Placeholder 5"/>
          <p:cNvSpPr>
            <a:spLocks noGrp="1"/>
          </p:cNvSpPr>
          <p:nvPr>
            <p:ph type="sldNum" sz="quarter" idx="12"/>
          </p:nvPr>
        </p:nvSpPr>
        <p:spPr>
          <a:xfrm>
            <a:off x="13435351" y="7556495"/>
            <a:ext cx="826751" cy="419100"/>
          </a:xfrm>
        </p:spPr>
        <p:txBody>
          <a:bodyPr/>
          <a:lstStyle/>
          <a:p>
            <a:fld id="{B6F15528-21DE-4FAA-801E-634DDDAF4B2B}" type="slidenum">
              <a:rPr lang="en-US" smtClean="0"/>
              <a:pPr/>
              <a:t>‹#›</a:t>
            </a:fld>
            <a:endParaRPr lang="en-US"/>
          </a:p>
        </p:txBody>
      </p:sp>
      <p:cxnSp>
        <p:nvCxnSpPr>
          <p:cNvPr id="15" name="Straight Connector 14"/>
          <p:cNvCxnSpPr/>
          <p:nvPr/>
        </p:nvCxnSpPr>
        <p:spPr>
          <a:xfrm>
            <a:off x="4038599" y="5283197"/>
            <a:ext cx="10223502"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53635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2094254" y="3632199"/>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2689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022604" y="2628909"/>
            <a:ext cx="12238032" cy="2733771"/>
          </a:xfrm>
        </p:spPr>
        <p:txBody>
          <a:bodyPr anchor="b">
            <a:normAutofit/>
          </a:bodyPr>
          <a:lstStyle>
            <a:lvl1pPr algn="ctr">
              <a:defRPr sz="6600" b="0" cap="none"/>
            </a:lvl1pPr>
          </a:lstStyle>
          <a:p>
            <a:r>
              <a:rPr lang="en-US"/>
              <a:t>Click to edit Master title style</a:t>
            </a:r>
            <a:endParaRPr lang="en-US" dirty="0"/>
          </a:p>
        </p:txBody>
      </p:sp>
      <p:sp>
        <p:nvSpPr>
          <p:cNvPr id="3" name="Text Placeholder 2"/>
          <p:cNvSpPr>
            <a:spLocks noGrp="1"/>
          </p:cNvSpPr>
          <p:nvPr>
            <p:ph type="body" idx="1"/>
          </p:nvPr>
        </p:nvSpPr>
        <p:spPr>
          <a:xfrm>
            <a:off x="3022601" y="5769077"/>
            <a:ext cx="12238035" cy="1431821"/>
          </a:xfrm>
        </p:spPr>
        <p:txBody>
          <a:bodyPr anchor="t">
            <a:normAutofit/>
          </a:bodyPr>
          <a:lstStyle>
            <a:lvl1pPr marL="0" indent="0" algn="ctr">
              <a:buNone/>
              <a:defRPr sz="36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6" name="Straight Connector 15"/>
          <p:cNvCxnSpPr/>
          <p:nvPr/>
        </p:nvCxnSpPr>
        <p:spPr>
          <a:xfrm>
            <a:off x="3019085" y="5565878"/>
            <a:ext cx="1224507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68889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2094254" y="3632199"/>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7672" y="3840480"/>
            <a:ext cx="7077456" cy="496519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272016" y="3840480"/>
            <a:ext cx="7077456" cy="496519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16572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943100" y="3987800"/>
            <a:ext cx="7077456" cy="864393"/>
          </a:xfrm>
        </p:spPr>
        <p:txBody>
          <a:bodyPr anchor="b">
            <a:noAutofit/>
          </a:bodyPr>
          <a:lstStyle>
            <a:lvl1pPr marL="0" indent="0">
              <a:spcBef>
                <a:spcPts val="1008"/>
              </a:spcBef>
              <a:spcAft>
                <a:spcPts val="900"/>
              </a:spcAft>
              <a:buNone/>
              <a:defRPr sz="4200" b="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943100" y="4864894"/>
            <a:ext cx="7077456" cy="394890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271005" y="3987800"/>
            <a:ext cx="7077456" cy="864393"/>
          </a:xfrm>
        </p:spPr>
        <p:txBody>
          <a:bodyPr anchor="b">
            <a:noAutofit/>
          </a:bodyPr>
          <a:lstStyle>
            <a:lvl1pPr marL="0" indent="0">
              <a:spcBef>
                <a:spcPts val="1008"/>
              </a:spcBef>
              <a:spcAft>
                <a:spcPts val="900"/>
              </a:spcAft>
              <a:buNone/>
              <a:defRPr sz="4200" b="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71005" y="4864894"/>
            <a:ext cx="7077456" cy="394890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9/16/2026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cxnSp>
        <p:nvCxnSpPr>
          <p:cNvPr id="18" name="Straight Connector 17"/>
          <p:cNvCxnSpPr/>
          <p:nvPr/>
        </p:nvCxnSpPr>
        <p:spPr>
          <a:xfrm>
            <a:off x="2094254" y="3632199"/>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7388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9/16/2026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cxnSp>
        <p:nvCxnSpPr>
          <p:cNvPr id="14" name="Straight Connector 13"/>
          <p:cNvCxnSpPr/>
          <p:nvPr/>
        </p:nvCxnSpPr>
        <p:spPr>
          <a:xfrm>
            <a:off x="2094254" y="3632199"/>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14088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8741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0717" y="2082801"/>
            <a:ext cx="5577683" cy="2057400"/>
          </a:xfrm>
        </p:spPr>
        <p:txBody>
          <a:bodyPr anchor="b">
            <a:normAutofit/>
          </a:bodyPr>
          <a:lstStyle>
            <a:lvl1pPr algn="ctr">
              <a:defRPr sz="3600" b="0"/>
            </a:lvl1pPr>
          </a:lstStyle>
          <a:p>
            <a:r>
              <a:rPr lang="en-US"/>
              <a:t>Click to edit Master title style</a:t>
            </a:r>
            <a:endParaRPr lang="en-US" dirty="0"/>
          </a:p>
        </p:txBody>
      </p:sp>
      <p:sp>
        <p:nvSpPr>
          <p:cNvPr id="3" name="Content Placeholder 2"/>
          <p:cNvSpPr>
            <a:spLocks noGrp="1"/>
          </p:cNvSpPr>
          <p:nvPr>
            <p:ph idx="1"/>
          </p:nvPr>
        </p:nvSpPr>
        <p:spPr>
          <a:xfrm>
            <a:off x="8128002" y="1473197"/>
            <a:ext cx="8204199" cy="734060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0717" y="4546598"/>
            <a:ext cx="5577683" cy="3657606"/>
          </a:xfrm>
        </p:spPr>
        <p:txBody>
          <a:bodyPr anchor="t">
            <a:normAutofit/>
          </a:bodyPr>
          <a:lstStyle>
            <a:lvl1pPr marL="0" indent="0" algn="ctr">
              <a:buNone/>
              <a:defRPr sz="24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16" name="Straight Connector 15"/>
          <p:cNvCxnSpPr/>
          <p:nvPr/>
        </p:nvCxnSpPr>
        <p:spPr>
          <a:xfrm>
            <a:off x="2094254" y="4368800"/>
            <a:ext cx="52717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90281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3099" y="2825748"/>
            <a:ext cx="9362724" cy="2057400"/>
          </a:xfrm>
        </p:spPr>
        <p:txBody>
          <a:bodyPr anchor="b">
            <a:normAutofit/>
          </a:bodyPr>
          <a:lstStyle>
            <a:lvl1pPr algn="ctr">
              <a:defRPr sz="42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12142247" y="1562100"/>
            <a:ext cx="4595021" cy="71628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943099" y="4883148"/>
            <a:ext cx="9362724" cy="2743200"/>
          </a:xfrm>
        </p:spPr>
        <p:txBody>
          <a:bodyPr anchor="t">
            <a:normAutofit/>
          </a:bodyPr>
          <a:lstStyle>
            <a:lvl1pPr marL="0" indent="0" algn="ctr">
              <a:buNone/>
              <a:defRPr sz="27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13514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3102" y="7223122"/>
            <a:ext cx="14414499" cy="850107"/>
          </a:xfrm>
        </p:spPr>
        <p:txBody>
          <a:bodyPr anchor="b">
            <a:normAutofit/>
          </a:bodyPr>
          <a:lstStyle>
            <a:lvl1pPr algn="ctr">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562141" y="1562099"/>
            <a:ext cx="15158958" cy="5003804"/>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943102" y="8073230"/>
            <a:ext cx="14414499" cy="740568"/>
          </a:xfrm>
        </p:spPr>
        <p:txBody>
          <a:bodyPr>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3681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55802" y="1473198"/>
            <a:ext cx="14389098" cy="4432302"/>
          </a:xfrm>
        </p:spPr>
        <p:txBody>
          <a:bodyPr anchor="ctr">
            <a:normAutofit/>
          </a:bodyPr>
          <a:lstStyle>
            <a:lvl1pPr algn="ctr">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55802" y="6515099"/>
            <a:ext cx="14389098" cy="2298701"/>
          </a:xfrm>
        </p:spPr>
        <p:txBody>
          <a:bodyPr anchor="ctr">
            <a:normAutofit/>
          </a:bodyPr>
          <a:lstStyle>
            <a:lvl1pPr marL="0" indent="0" algn="ct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5" name="Straight Connector 14"/>
          <p:cNvCxnSpPr/>
          <p:nvPr/>
        </p:nvCxnSpPr>
        <p:spPr>
          <a:xfrm>
            <a:off x="2094254" y="6210299"/>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334916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69320" y="1473198"/>
            <a:ext cx="13944597" cy="3556002"/>
          </a:xfrm>
        </p:spPr>
        <p:txBody>
          <a:bodyPr anchor="ctr">
            <a:normAutofit/>
          </a:bodyPr>
          <a:lstStyle>
            <a:lvl1pPr algn="ctr">
              <a:defRPr sz="48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512218" y="5029200"/>
            <a:ext cx="13258803" cy="876300"/>
          </a:xfrm>
        </p:spPr>
        <p:txBody>
          <a:bodyPr anchor="ctr">
            <a:normAutofit/>
          </a:bodyPr>
          <a:lstStyle>
            <a:lvl1pPr marL="0" indent="0" algn="r">
              <a:buFontTx/>
              <a:buNone/>
              <a:defRPr sz="3000"/>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3102" y="6515099"/>
            <a:ext cx="14414499" cy="2298701"/>
          </a:xfrm>
        </p:spPr>
        <p:txBody>
          <a:bodyPr anchor="ctr">
            <a:normAutofit/>
          </a:bodyPr>
          <a:lstStyle>
            <a:lvl1pPr marL="0" indent="0" algn="ct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4" name="TextBox 13"/>
          <p:cNvSpPr txBox="1"/>
          <p:nvPr/>
        </p:nvSpPr>
        <p:spPr>
          <a:xfrm>
            <a:off x="1293020" y="1319942"/>
            <a:ext cx="914400" cy="877164"/>
          </a:xfrm>
          <a:prstGeom prst="rect">
            <a:avLst/>
          </a:prstGeom>
        </p:spPr>
        <p:txBody>
          <a:bodyPr vert="horz" lIns="137160" tIns="68580" rIns="137160" bIns="68580" rtlCol="0" anchor="ctr">
            <a:noAutofit/>
          </a:bodyPr>
          <a:lstStyle/>
          <a:p>
            <a:pPr lvl="0"/>
            <a:r>
              <a:rPr lang="en-US" sz="12000" dirty="0">
                <a:solidFill>
                  <a:schemeClr val="tx1"/>
                </a:solidFill>
                <a:effectLst/>
              </a:rPr>
              <a:t>“</a:t>
            </a:r>
          </a:p>
        </p:txBody>
      </p:sp>
      <p:sp>
        <p:nvSpPr>
          <p:cNvPr id="15" name="TextBox 14"/>
          <p:cNvSpPr txBox="1"/>
          <p:nvPr/>
        </p:nvSpPr>
        <p:spPr>
          <a:xfrm>
            <a:off x="15900401" y="4241805"/>
            <a:ext cx="914400" cy="877164"/>
          </a:xfrm>
          <a:prstGeom prst="rect">
            <a:avLst/>
          </a:prstGeom>
        </p:spPr>
        <p:txBody>
          <a:bodyPr vert="horz" lIns="137160" tIns="68580" rIns="137160" bIns="68580" rtlCol="0" anchor="ctr">
            <a:noAutofit/>
          </a:bodyPr>
          <a:lstStyle/>
          <a:p>
            <a:pPr lvl="0" algn="r"/>
            <a:r>
              <a:rPr lang="en-US" sz="12000" dirty="0">
                <a:solidFill>
                  <a:schemeClr val="tx1"/>
                </a:solidFill>
                <a:effectLst/>
              </a:rPr>
              <a:t>”</a:t>
            </a:r>
          </a:p>
        </p:txBody>
      </p:sp>
      <p:cxnSp>
        <p:nvCxnSpPr>
          <p:cNvPr id="19" name="Straight Connector 18"/>
          <p:cNvCxnSpPr/>
          <p:nvPr/>
        </p:nvCxnSpPr>
        <p:spPr>
          <a:xfrm>
            <a:off x="2094254" y="6210299"/>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624718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3103" y="4962872"/>
            <a:ext cx="14414502" cy="2203200"/>
          </a:xfrm>
        </p:spPr>
        <p:txBody>
          <a:bodyPr anchor="b">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3102" y="7166072"/>
            <a:ext cx="14414502" cy="1290600"/>
          </a:xfrm>
        </p:spPr>
        <p:txBody>
          <a:bodyPr anchor="t">
            <a:normAutofit/>
          </a:bodyPr>
          <a:lstStyle>
            <a:lvl1pPr marL="0" indent="0" algn="l">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509752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2169320" y="1473198"/>
            <a:ext cx="13944597" cy="3365502"/>
          </a:xfrm>
        </p:spPr>
        <p:txBody>
          <a:bodyPr anchor="ctr">
            <a:normAutofit/>
          </a:bodyPr>
          <a:lstStyle>
            <a:lvl1pPr algn="ctr">
              <a:defRPr sz="48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943102" y="5458968"/>
            <a:ext cx="14414502" cy="1330452"/>
          </a:xfrm>
        </p:spPr>
        <p:txBody>
          <a:bodyPr anchor="b">
            <a:normAutofit/>
          </a:bodyPr>
          <a:lstStyle>
            <a:lvl1pPr marL="0" indent="0" algn="l">
              <a:spcBef>
                <a:spcPts val="0"/>
              </a:spcBef>
              <a:buNone/>
              <a:defRPr sz="36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943102" y="6794500"/>
            <a:ext cx="14414502" cy="2019300"/>
          </a:xfrm>
        </p:spPr>
        <p:txBody>
          <a:bodyPr anchor="t">
            <a:normAutofit/>
          </a:bodyPr>
          <a:lstStyle>
            <a:lvl1pPr marL="0" indent="0" algn="l">
              <a:buNone/>
              <a:defRPr sz="27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2" name="TextBox 11"/>
          <p:cNvSpPr txBox="1"/>
          <p:nvPr/>
        </p:nvSpPr>
        <p:spPr>
          <a:xfrm>
            <a:off x="1293020" y="1319942"/>
            <a:ext cx="914400" cy="877164"/>
          </a:xfrm>
          <a:prstGeom prst="rect">
            <a:avLst/>
          </a:prstGeom>
        </p:spPr>
        <p:txBody>
          <a:bodyPr vert="horz" lIns="137160" tIns="68580" rIns="137160" bIns="68580" rtlCol="0" anchor="ctr">
            <a:noAutofit/>
          </a:bodyPr>
          <a:lstStyle/>
          <a:p>
            <a:pPr lvl="0"/>
            <a:r>
              <a:rPr lang="en-US" sz="12000" dirty="0">
                <a:solidFill>
                  <a:schemeClr val="tx1"/>
                </a:solidFill>
                <a:effectLst/>
              </a:rPr>
              <a:t>“</a:t>
            </a:r>
          </a:p>
        </p:txBody>
      </p:sp>
      <p:sp>
        <p:nvSpPr>
          <p:cNvPr id="13" name="TextBox 12"/>
          <p:cNvSpPr txBox="1"/>
          <p:nvPr/>
        </p:nvSpPr>
        <p:spPr>
          <a:xfrm>
            <a:off x="15900401" y="3898892"/>
            <a:ext cx="914400" cy="877164"/>
          </a:xfrm>
          <a:prstGeom prst="rect">
            <a:avLst/>
          </a:prstGeom>
        </p:spPr>
        <p:txBody>
          <a:bodyPr vert="horz" lIns="137160" tIns="68580" rIns="137160" bIns="68580" rtlCol="0" anchor="ctr">
            <a:noAutofit/>
          </a:bodyPr>
          <a:lstStyle/>
          <a:p>
            <a:pPr lvl="0" algn="r"/>
            <a:r>
              <a:rPr lang="en-US" sz="12000" dirty="0">
                <a:solidFill>
                  <a:schemeClr val="tx1"/>
                </a:solidFill>
                <a:effectLst/>
              </a:rPr>
              <a:t>”</a:t>
            </a:r>
          </a:p>
        </p:txBody>
      </p:sp>
      <p:cxnSp>
        <p:nvCxnSpPr>
          <p:cNvPr id="26" name="Straight Connector 25"/>
          <p:cNvCxnSpPr/>
          <p:nvPr/>
        </p:nvCxnSpPr>
        <p:spPr>
          <a:xfrm>
            <a:off x="2094254" y="5143500"/>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47192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3102" y="1473198"/>
            <a:ext cx="14414499" cy="3365502"/>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943102" y="5445252"/>
            <a:ext cx="14414502" cy="1261872"/>
          </a:xfrm>
        </p:spPr>
        <p:txBody>
          <a:bodyPr anchor="b">
            <a:normAutofit/>
          </a:bodyPr>
          <a:lstStyle>
            <a:lvl1pPr marL="0" indent="0" algn="l">
              <a:spcBef>
                <a:spcPts val="0"/>
              </a:spcBef>
              <a:buNone/>
              <a:defRPr sz="42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943100" y="6705599"/>
            <a:ext cx="14414505" cy="2108201"/>
          </a:xfrm>
        </p:spPr>
        <p:txBody>
          <a:bodyPr anchor="t">
            <a:normAutofit/>
          </a:bodyPr>
          <a:lstStyle>
            <a:lvl1pPr marL="0" indent="0" algn="l">
              <a:buNone/>
              <a:defRPr sz="27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5" name="Straight Connector 14"/>
          <p:cNvCxnSpPr/>
          <p:nvPr/>
        </p:nvCxnSpPr>
        <p:spPr>
          <a:xfrm>
            <a:off x="2094254" y="5143500"/>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772933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4" name="Straight Connector 13"/>
          <p:cNvCxnSpPr/>
          <p:nvPr/>
        </p:nvCxnSpPr>
        <p:spPr>
          <a:xfrm>
            <a:off x="2094254" y="3632199"/>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0821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499035" y="1473197"/>
            <a:ext cx="2836343" cy="734060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943098" y="1473198"/>
            <a:ext cx="11149538" cy="7340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14" name="Straight Connector 13"/>
          <p:cNvCxnSpPr/>
          <p:nvPr/>
        </p:nvCxnSpPr>
        <p:spPr>
          <a:xfrm>
            <a:off x="13295835" y="1485900"/>
            <a:ext cx="0" cy="73152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9140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23604" y="0"/>
            <a:ext cx="18344943" cy="10284321"/>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943103" y="1473199"/>
            <a:ext cx="14401794" cy="1955801"/>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943102" y="3835398"/>
            <a:ext cx="14401794" cy="4978404"/>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016252" y="8953500"/>
            <a:ext cx="2400300" cy="419100"/>
          </a:xfrm>
          <a:prstGeom prst="rect">
            <a:avLst/>
          </a:prstGeom>
        </p:spPr>
        <p:txBody>
          <a:bodyPr vert="horz" lIns="91440" tIns="45720" rIns="91440" bIns="45720" rtlCol="0" anchor="ctr"/>
          <a:lstStyle>
            <a:lvl1pPr algn="r">
              <a:defRPr sz="1500" b="0" i="0">
                <a:solidFill>
                  <a:schemeClr val="tx1"/>
                </a:solidFill>
                <a:effectLst/>
                <a:latin typeface="+mn-lt"/>
              </a:defRPr>
            </a:lvl1pPr>
          </a:lstStyle>
          <a:p>
            <a:fld id="{1D8BD707-D9CF-40AE-B4C6-C98DA3205C09}" type="datetimeFigureOut">
              <a:rPr lang="en-US" smtClean="0"/>
              <a:pPr/>
              <a:t>9/16/2026</a:t>
            </a:fld>
            <a:endParaRPr lang="en-US"/>
          </a:p>
        </p:txBody>
      </p:sp>
      <p:sp>
        <p:nvSpPr>
          <p:cNvPr id="5" name="Footer Placeholder 4"/>
          <p:cNvSpPr>
            <a:spLocks noGrp="1"/>
          </p:cNvSpPr>
          <p:nvPr>
            <p:ph type="ftr" sz="quarter" idx="3"/>
          </p:nvPr>
        </p:nvSpPr>
        <p:spPr>
          <a:xfrm>
            <a:off x="1943102" y="8953500"/>
            <a:ext cx="10958850" cy="419100"/>
          </a:xfrm>
          <a:prstGeom prst="rect">
            <a:avLst/>
          </a:prstGeom>
        </p:spPr>
        <p:txBody>
          <a:bodyPr vert="horz" lIns="91440" tIns="45720" rIns="91440" bIns="45720" rtlCol="0" anchor="ctr"/>
          <a:lstStyle>
            <a:lvl1pPr algn="l">
              <a:defRPr sz="15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5530852" y="8953500"/>
            <a:ext cx="814046" cy="419100"/>
          </a:xfrm>
          <a:prstGeom prst="rect">
            <a:avLst/>
          </a:prstGeom>
        </p:spPr>
        <p:txBody>
          <a:bodyPr vert="horz" lIns="91440" tIns="45720" rIns="91440" bIns="45720" rtlCol="0" anchor="ctr"/>
          <a:lstStyle>
            <a:lvl1pPr algn="r">
              <a:defRPr sz="1500" b="0" i="0">
                <a:solidFill>
                  <a:schemeClr val="tx1"/>
                </a:solidFill>
                <a:effectLst/>
                <a:latin typeface="+mn-lt"/>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551129702"/>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 id="2147483781" r:id="rId14"/>
    <p:sldLayoutId id="2147483782" r:id="rId15"/>
    <p:sldLayoutId id="2147483783" r:id="rId16"/>
    <p:sldLayoutId id="2147483784" r:id="rId17"/>
  </p:sldLayoutIdLst>
  <p:txStyles>
    <p:titleStyle>
      <a:lvl1pPr algn="ctr" defTabSz="685800" rtl="0" eaLnBrk="1" latinLnBrk="0" hangingPunct="1">
        <a:spcBef>
          <a:spcPct val="0"/>
        </a:spcBef>
        <a:buNone/>
        <a:defRPr sz="66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28625" indent="-428625" algn="l" defTabSz="685800" rtl="0" eaLnBrk="1" latinLnBrk="0" hangingPunct="1">
        <a:spcBef>
          <a:spcPct val="20000"/>
        </a:spcBef>
        <a:spcAft>
          <a:spcPts val="900"/>
        </a:spcAft>
        <a:buClr>
          <a:schemeClr val="accent1"/>
        </a:buClr>
        <a:buSzPct val="115000"/>
        <a:buFont typeface="Arial"/>
        <a:buChar char="•"/>
        <a:defRPr sz="3600" kern="1200" cap="none">
          <a:solidFill>
            <a:schemeClr val="tx1">
              <a:lumMod val="85000"/>
              <a:lumOff val="15000"/>
            </a:schemeClr>
          </a:solidFill>
          <a:effectLst/>
          <a:latin typeface="+mn-lt"/>
          <a:ea typeface="+mn-ea"/>
          <a:cs typeface="+mn-cs"/>
        </a:defRPr>
      </a:lvl1pPr>
      <a:lvl2pPr marL="1114425" indent="-428625" algn="l" defTabSz="685800" rtl="0" eaLnBrk="1" latinLnBrk="0" hangingPunct="1">
        <a:spcBef>
          <a:spcPct val="20000"/>
        </a:spcBef>
        <a:spcAft>
          <a:spcPts val="900"/>
        </a:spcAft>
        <a:buClr>
          <a:schemeClr val="accent1"/>
        </a:buClr>
        <a:buSzPct val="115000"/>
        <a:buFont typeface="Arial"/>
        <a:buChar char="•"/>
        <a:defRPr sz="3000" kern="1200" cap="none">
          <a:solidFill>
            <a:schemeClr val="tx1">
              <a:lumMod val="85000"/>
              <a:lumOff val="15000"/>
            </a:schemeClr>
          </a:solidFill>
          <a:effectLst/>
          <a:latin typeface="+mn-lt"/>
          <a:ea typeface="+mn-ea"/>
          <a:cs typeface="+mn-cs"/>
        </a:defRPr>
      </a:lvl2pPr>
      <a:lvl3pPr marL="1800225" indent="-428625" algn="l" defTabSz="685800" rtl="0" eaLnBrk="1" latinLnBrk="0" hangingPunct="1">
        <a:spcBef>
          <a:spcPct val="20000"/>
        </a:spcBef>
        <a:spcAft>
          <a:spcPts val="900"/>
        </a:spcAft>
        <a:buClr>
          <a:schemeClr val="accent1"/>
        </a:buClr>
        <a:buSzPct val="115000"/>
        <a:buFont typeface="Arial"/>
        <a:buChar char="•"/>
        <a:defRPr sz="2700" kern="1200" cap="none">
          <a:solidFill>
            <a:schemeClr val="tx1">
              <a:lumMod val="85000"/>
              <a:lumOff val="15000"/>
            </a:schemeClr>
          </a:solidFill>
          <a:effectLst/>
          <a:latin typeface="+mn-lt"/>
          <a:ea typeface="+mn-ea"/>
          <a:cs typeface="+mn-cs"/>
        </a:defRPr>
      </a:lvl3pPr>
      <a:lvl4pPr marL="2314575" indent="-257175" algn="l" defTabSz="685800" rtl="0" eaLnBrk="1" latinLnBrk="0" hangingPunct="1">
        <a:spcBef>
          <a:spcPct val="20000"/>
        </a:spcBef>
        <a:spcAft>
          <a:spcPts val="9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4pPr>
      <a:lvl5pPr marL="3000375" indent="-257175" algn="l" defTabSz="685800" rtl="0" eaLnBrk="1" latinLnBrk="0" hangingPunct="1">
        <a:spcBef>
          <a:spcPct val="20000"/>
        </a:spcBef>
        <a:spcAft>
          <a:spcPts val="900"/>
        </a:spcAft>
        <a:buClr>
          <a:schemeClr val="accent1"/>
        </a:buClr>
        <a:buSzPct val="115000"/>
        <a:buFont typeface="Arial"/>
        <a:buChar char="•"/>
        <a:defRPr sz="2100" kern="1200" cap="none">
          <a:solidFill>
            <a:schemeClr val="tx1">
              <a:lumMod val="85000"/>
              <a:lumOff val="15000"/>
            </a:schemeClr>
          </a:solidFill>
          <a:effectLst/>
          <a:latin typeface="+mn-lt"/>
          <a:ea typeface="+mn-ea"/>
          <a:cs typeface="+mn-cs"/>
        </a:defRPr>
      </a:lvl5pPr>
      <a:lvl6pPr marL="3771900" indent="-342900" algn="l" defTabSz="685800" rtl="0" eaLnBrk="1" latinLnBrk="0" hangingPunct="1">
        <a:spcBef>
          <a:spcPct val="20000"/>
        </a:spcBef>
        <a:spcAft>
          <a:spcPts val="900"/>
        </a:spcAft>
        <a:buClr>
          <a:schemeClr val="accent1"/>
        </a:buClr>
        <a:buSzPct val="115000"/>
        <a:buFont typeface="Arial"/>
        <a:buChar char="•"/>
        <a:defRPr sz="2100" kern="1200" cap="none">
          <a:solidFill>
            <a:schemeClr val="tx1">
              <a:lumMod val="85000"/>
              <a:lumOff val="15000"/>
            </a:schemeClr>
          </a:solidFill>
          <a:effectLst/>
          <a:latin typeface="+mn-lt"/>
          <a:ea typeface="+mn-ea"/>
          <a:cs typeface="+mn-cs"/>
        </a:defRPr>
      </a:lvl6pPr>
      <a:lvl7pPr marL="4457700" indent="-342900" algn="l" defTabSz="685800" rtl="0" eaLnBrk="1" latinLnBrk="0" hangingPunct="1">
        <a:spcBef>
          <a:spcPct val="20000"/>
        </a:spcBef>
        <a:spcAft>
          <a:spcPts val="900"/>
        </a:spcAft>
        <a:buClr>
          <a:schemeClr val="accent1"/>
        </a:buClr>
        <a:buSzPct val="115000"/>
        <a:buFont typeface="Arial"/>
        <a:buChar char="•"/>
        <a:defRPr sz="2100" kern="1200" cap="none">
          <a:solidFill>
            <a:schemeClr val="tx1">
              <a:lumMod val="85000"/>
              <a:lumOff val="15000"/>
            </a:schemeClr>
          </a:solidFill>
          <a:effectLst/>
          <a:latin typeface="+mn-lt"/>
          <a:ea typeface="+mn-ea"/>
          <a:cs typeface="+mn-cs"/>
        </a:defRPr>
      </a:lvl7pPr>
      <a:lvl8pPr marL="5143500" indent="-342900" algn="l" defTabSz="685800" rtl="0" eaLnBrk="1" latinLnBrk="0" hangingPunct="1">
        <a:spcBef>
          <a:spcPct val="20000"/>
        </a:spcBef>
        <a:spcAft>
          <a:spcPts val="900"/>
        </a:spcAft>
        <a:buClr>
          <a:schemeClr val="accent1"/>
        </a:buClr>
        <a:buSzPct val="115000"/>
        <a:buFont typeface="Arial"/>
        <a:buChar char="•"/>
        <a:defRPr sz="2100" kern="1200" cap="none">
          <a:solidFill>
            <a:schemeClr val="tx1">
              <a:lumMod val="85000"/>
              <a:lumOff val="15000"/>
            </a:schemeClr>
          </a:solidFill>
          <a:effectLst/>
          <a:latin typeface="+mn-lt"/>
          <a:ea typeface="+mn-ea"/>
          <a:cs typeface="+mn-cs"/>
        </a:defRPr>
      </a:lvl8pPr>
      <a:lvl9pPr marL="5829300" indent="-342900" algn="l" defTabSz="685800" rtl="0" eaLnBrk="1" latinLnBrk="0" hangingPunct="1">
        <a:spcBef>
          <a:spcPct val="20000"/>
        </a:spcBef>
        <a:spcAft>
          <a:spcPts val="900"/>
        </a:spcAft>
        <a:buClr>
          <a:schemeClr val="accent1"/>
        </a:buClr>
        <a:buSzPct val="115000"/>
        <a:buFont typeface="Arial"/>
        <a:buChar char="•"/>
        <a:defRPr sz="2100" kern="1200" cap="none">
          <a:solidFill>
            <a:schemeClr val="tx1">
              <a:lumMod val="85000"/>
              <a:lumOff val="15000"/>
            </a:schemeClr>
          </a:solidFill>
          <a:effectLst/>
          <a:latin typeface="+mn-lt"/>
          <a:ea typeface="+mn-ea"/>
          <a:cs typeface="+mn-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3.svg"/><Relationship Id="rId7" Type="http://schemas.openxmlformats.org/officeDocument/2006/relationships/image" Target="../media/image12.sv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25.svg"/><Relationship Id="rId4" Type="http://schemas.openxmlformats.org/officeDocument/2006/relationships/image" Target="../media/image24.png"/></Relationships>
</file>

<file path=ppt/slides/_rels/slide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8.svg"/><Relationship Id="rId7" Type="http://schemas.openxmlformats.org/officeDocument/2006/relationships/image" Target="../media/image12.sv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30.svg"/><Relationship Id="rId4" Type="http://schemas.openxmlformats.org/officeDocument/2006/relationships/image" Target="../media/image29.png"/><Relationship Id="rId9" Type="http://schemas.openxmlformats.org/officeDocument/2006/relationships/image" Target="../media/image32.png"/></Relationships>
</file>

<file path=ppt/slides/_rels/slide6.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5.png"/></Relationships>
</file>

<file path=ppt/slides/_rels/slide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png"/><Relationship Id="rId1" Type="http://schemas.openxmlformats.org/officeDocument/2006/relationships/slideLayout" Target="../slideLayouts/slideLayout7.xml"/><Relationship Id="rId5" Type="http://schemas.openxmlformats.org/officeDocument/2006/relationships/image" Target="../media/image30.sv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50.jpeg"/><Relationship Id="rId1" Type="http://schemas.openxmlformats.org/officeDocument/2006/relationships/slideLayout" Target="../slideLayouts/slideLayout7.xml"/><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image" Target="../media/image4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2397" y="2537302"/>
            <a:ext cx="9030368" cy="7749698"/>
          </a:xfrm>
          <a:custGeom>
            <a:avLst/>
            <a:gdLst/>
            <a:ahLst/>
            <a:cxnLst/>
            <a:rect l="l" t="t" r="r" b="b"/>
            <a:pathLst>
              <a:path w="9030368" h="7749698">
                <a:moveTo>
                  <a:pt x="0" y="0"/>
                </a:moveTo>
                <a:lnTo>
                  <a:pt x="9030368" y="0"/>
                </a:lnTo>
                <a:lnTo>
                  <a:pt x="9030368" y="7749698"/>
                </a:lnTo>
                <a:lnTo>
                  <a:pt x="0" y="77496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806807">
            <a:off x="11205597" y="8316066"/>
            <a:ext cx="1348239" cy="1348239"/>
          </a:xfrm>
          <a:custGeom>
            <a:avLst/>
            <a:gdLst/>
            <a:ahLst/>
            <a:cxnLst/>
            <a:rect l="l" t="t" r="r" b="b"/>
            <a:pathLst>
              <a:path w="1348239" h="1348239">
                <a:moveTo>
                  <a:pt x="0" y="0"/>
                </a:moveTo>
                <a:lnTo>
                  <a:pt x="1348240" y="0"/>
                </a:lnTo>
                <a:lnTo>
                  <a:pt x="1348240" y="1348240"/>
                </a:lnTo>
                <a:lnTo>
                  <a:pt x="0" y="134824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0049769" y="4278411"/>
            <a:ext cx="6764504" cy="2616101"/>
          </a:xfrm>
          <a:prstGeom prst="rect">
            <a:avLst/>
          </a:prstGeom>
        </p:spPr>
        <p:txBody>
          <a:bodyPr lIns="0" tIns="0" rIns="0" bIns="0" rtlCol="0" anchor="t">
            <a:spAutoFit/>
          </a:bodyPr>
          <a:lstStyle/>
          <a:p>
            <a:pPr algn="l">
              <a:lnSpc>
                <a:spcPts val="6800"/>
              </a:lnSpc>
            </a:pPr>
            <a:r>
              <a:rPr lang="en-US" sz="6800" spc="-374" dirty="0">
                <a:solidFill>
                  <a:srgbClr val="000000"/>
                </a:solidFill>
                <a:latin typeface="Heading Now 71-78"/>
                <a:ea typeface="Heading Now 71-78"/>
                <a:cs typeface="Heading Now 71-78"/>
                <a:sym typeface="Heading Now 71-78"/>
              </a:rPr>
              <a:t>CUSTOMER CHURN FORECASTING</a:t>
            </a:r>
          </a:p>
        </p:txBody>
      </p:sp>
      <p:sp>
        <p:nvSpPr>
          <p:cNvPr id="6" name="TextBox 6"/>
          <p:cNvSpPr txBox="1"/>
          <p:nvPr/>
        </p:nvSpPr>
        <p:spPr>
          <a:xfrm>
            <a:off x="10049769" y="1432698"/>
            <a:ext cx="5694731" cy="419346"/>
          </a:xfrm>
          <a:prstGeom prst="rect">
            <a:avLst/>
          </a:prstGeom>
        </p:spPr>
        <p:txBody>
          <a:bodyPr lIns="0" tIns="0" rIns="0" bIns="0" rtlCol="0" anchor="t">
            <a:spAutoFit/>
          </a:bodyPr>
          <a:lstStyle/>
          <a:p>
            <a:pPr algn="l">
              <a:lnSpc>
                <a:spcPts val="3359"/>
              </a:lnSpc>
            </a:pPr>
            <a:r>
              <a:rPr lang="en-US" sz="2400" b="1" dirty="0">
                <a:solidFill>
                  <a:srgbClr val="000000"/>
                </a:solidFill>
                <a:latin typeface="TT Firs Neue Bold"/>
                <a:ea typeface="TT Firs Neue Bold"/>
                <a:cs typeface="TT Firs Neue Bold"/>
                <a:sym typeface="TT Firs Neue Bold"/>
              </a:rPr>
              <a:t>Customer Analysis Presentation</a:t>
            </a:r>
          </a:p>
        </p:txBody>
      </p:sp>
      <p:sp>
        <p:nvSpPr>
          <p:cNvPr id="7" name="TextBox 7"/>
          <p:cNvSpPr txBox="1"/>
          <p:nvPr/>
        </p:nvSpPr>
        <p:spPr>
          <a:xfrm>
            <a:off x="10049769" y="3642278"/>
            <a:ext cx="5694731" cy="405809"/>
          </a:xfrm>
          <a:prstGeom prst="rect">
            <a:avLst/>
          </a:prstGeom>
        </p:spPr>
        <p:txBody>
          <a:bodyPr lIns="0" tIns="0" rIns="0" bIns="0" rtlCol="0" anchor="t">
            <a:spAutoFit/>
          </a:bodyPr>
          <a:lstStyle/>
          <a:p>
            <a:pPr algn="l">
              <a:lnSpc>
                <a:spcPts val="3359"/>
              </a:lnSpc>
            </a:pPr>
            <a:r>
              <a:rPr lang="en-US" sz="2400">
                <a:solidFill>
                  <a:srgbClr val="000000"/>
                </a:solidFill>
                <a:latin typeface="TT Firs Neue"/>
                <a:ea typeface="TT Firs Neue"/>
                <a:cs typeface="TT Firs Neue"/>
                <a:sym typeface="TT Firs Neue"/>
              </a:rPr>
              <a:t>Customer-Centered Market Insights</a:t>
            </a:r>
          </a:p>
        </p:txBody>
      </p:sp>
      <p:sp>
        <p:nvSpPr>
          <p:cNvPr id="8" name="TextBox 8"/>
          <p:cNvSpPr txBox="1"/>
          <p:nvPr/>
        </p:nvSpPr>
        <p:spPr>
          <a:xfrm>
            <a:off x="10049769" y="7311846"/>
            <a:ext cx="2195335" cy="349300"/>
          </a:xfrm>
          <a:prstGeom prst="rect">
            <a:avLst/>
          </a:prstGeom>
        </p:spPr>
        <p:txBody>
          <a:bodyPr lIns="0" tIns="0" rIns="0" bIns="0" rtlCol="0" anchor="t">
            <a:spAutoFit/>
          </a:bodyPr>
          <a:lstStyle/>
          <a:p>
            <a:pPr algn="l">
              <a:lnSpc>
                <a:spcPts val="2800"/>
              </a:lnSpc>
            </a:pPr>
            <a:r>
              <a:rPr lang="en-US" sz="2000">
                <a:solidFill>
                  <a:srgbClr val="000000"/>
                </a:solidFill>
                <a:latin typeface="TT Firs Neue"/>
                <a:ea typeface="TT Firs Neue"/>
                <a:cs typeface="TT Firs Neue"/>
                <a:sym typeface="TT Firs Neue"/>
              </a:rPr>
              <a:t>Presented By:</a:t>
            </a:r>
          </a:p>
        </p:txBody>
      </p:sp>
      <p:sp>
        <p:nvSpPr>
          <p:cNvPr id="9" name="TextBox 9"/>
          <p:cNvSpPr txBox="1"/>
          <p:nvPr/>
        </p:nvSpPr>
        <p:spPr>
          <a:xfrm>
            <a:off x="11918831" y="7311846"/>
            <a:ext cx="2195335" cy="349272"/>
          </a:xfrm>
          <a:prstGeom prst="rect">
            <a:avLst/>
          </a:prstGeom>
        </p:spPr>
        <p:txBody>
          <a:bodyPr lIns="0" tIns="0" rIns="0" bIns="0" rtlCol="0" anchor="t">
            <a:spAutoFit/>
          </a:bodyPr>
          <a:lstStyle/>
          <a:p>
            <a:pPr algn="l">
              <a:lnSpc>
                <a:spcPts val="2800"/>
              </a:lnSpc>
            </a:pPr>
            <a:r>
              <a:rPr lang="en-US" sz="2000" b="1" dirty="0">
                <a:solidFill>
                  <a:srgbClr val="000000"/>
                </a:solidFill>
                <a:latin typeface="TT Firs Neue Bold"/>
                <a:ea typeface="TT Firs Neue Bold"/>
                <a:cs typeface="TT Firs Neue Bold"/>
                <a:sym typeface="TT Firs Neue Bold"/>
              </a:rPr>
              <a:t>INDIRA DEVI.S</a:t>
            </a:r>
          </a:p>
        </p:txBody>
      </p:sp>
      <p:sp>
        <p:nvSpPr>
          <p:cNvPr id="10" name="Freeform 10"/>
          <p:cNvSpPr/>
          <p:nvPr/>
        </p:nvSpPr>
        <p:spPr>
          <a:xfrm flipH="1">
            <a:off x="15189108" y="2004413"/>
            <a:ext cx="1362038" cy="1418790"/>
          </a:xfrm>
          <a:custGeom>
            <a:avLst/>
            <a:gdLst/>
            <a:ahLst/>
            <a:cxnLst/>
            <a:rect l="l" t="t" r="r" b="b"/>
            <a:pathLst>
              <a:path w="1362038" h="1418790">
                <a:moveTo>
                  <a:pt x="1362038" y="0"/>
                </a:moveTo>
                <a:lnTo>
                  <a:pt x="0" y="0"/>
                </a:lnTo>
                <a:lnTo>
                  <a:pt x="0" y="1418790"/>
                </a:lnTo>
                <a:lnTo>
                  <a:pt x="1362038" y="1418790"/>
                </a:lnTo>
                <a:lnTo>
                  <a:pt x="1362038"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2FC47-BC3F-B30E-BF66-0E20FD583F44}"/>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9D225CB1-7604-E6EB-B6C3-F4FA3E5B221C}"/>
              </a:ext>
            </a:extLst>
          </p:cNvPr>
          <p:cNvSpPr/>
          <p:nvPr/>
        </p:nvSpPr>
        <p:spPr>
          <a:xfrm rot="-5806807">
            <a:off x="379671" y="8723572"/>
            <a:ext cx="1348239" cy="1348239"/>
          </a:xfrm>
          <a:custGeom>
            <a:avLst/>
            <a:gdLst/>
            <a:ahLst/>
            <a:cxnLst/>
            <a:rect l="l" t="t" r="r" b="b"/>
            <a:pathLst>
              <a:path w="1348239" h="1348239">
                <a:moveTo>
                  <a:pt x="0" y="0"/>
                </a:moveTo>
                <a:lnTo>
                  <a:pt x="1348240" y="0"/>
                </a:lnTo>
                <a:lnTo>
                  <a:pt x="1348240" y="1348240"/>
                </a:lnTo>
                <a:lnTo>
                  <a:pt x="0" y="13482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a:extLst>
              <a:ext uri="{FF2B5EF4-FFF2-40B4-BE49-F238E27FC236}">
                <a16:creationId xmlns:a16="http://schemas.microsoft.com/office/drawing/2014/main" id="{470A8C88-2C26-FB56-91DA-D61DF696A556}"/>
              </a:ext>
            </a:extLst>
          </p:cNvPr>
          <p:cNvSpPr/>
          <p:nvPr/>
        </p:nvSpPr>
        <p:spPr>
          <a:xfrm flipH="1">
            <a:off x="16535400" y="571500"/>
            <a:ext cx="1362038" cy="1418790"/>
          </a:xfrm>
          <a:custGeom>
            <a:avLst/>
            <a:gdLst/>
            <a:ahLst/>
            <a:cxnLst/>
            <a:rect l="l" t="t" r="r" b="b"/>
            <a:pathLst>
              <a:path w="1362038" h="1418790">
                <a:moveTo>
                  <a:pt x="1362038" y="0"/>
                </a:moveTo>
                <a:lnTo>
                  <a:pt x="0" y="0"/>
                </a:lnTo>
                <a:lnTo>
                  <a:pt x="0" y="1418790"/>
                </a:lnTo>
                <a:lnTo>
                  <a:pt x="1362038" y="1418790"/>
                </a:lnTo>
                <a:lnTo>
                  <a:pt x="1362038"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4">
            <a:extLst>
              <a:ext uri="{FF2B5EF4-FFF2-40B4-BE49-F238E27FC236}">
                <a16:creationId xmlns:a16="http://schemas.microsoft.com/office/drawing/2014/main" id="{309CB9A1-35DD-54DB-3C9B-2944ACDDE59A}"/>
              </a:ext>
            </a:extLst>
          </p:cNvPr>
          <p:cNvSpPr txBox="1"/>
          <p:nvPr/>
        </p:nvSpPr>
        <p:spPr>
          <a:xfrm>
            <a:off x="762000" y="1181100"/>
            <a:ext cx="11963400" cy="646331"/>
          </a:xfrm>
          <a:prstGeom prst="rect">
            <a:avLst/>
          </a:prstGeom>
          <a:noFill/>
        </p:spPr>
        <p:txBody>
          <a:bodyPr wrap="square" rtlCol="0">
            <a:spAutoFit/>
          </a:bodyPr>
          <a:lstStyle/>
          <a:p>
            <a:r>
              <a:rPr lang="en-US" sz="3600" b="1" i="1" u="sng" dirty="0">
                <a:effectLst>
                  <a:outerShdw blurRad="38100" dist="38100" dir="2700000" algn="tl">
                    <a:srgbClr val="000000">
                      <a:alpha val="43137"/>
                    </a:srgbClr>
                  </a:outerShdw>
                </a:effectLst>
                <a:latin typeface="Algerian" panose="04020705040A02060702" pitchFamily="82" charset="0"/>
              </a:rPr>
              <a:t>PROBLEM STATEMENT :</a:t>
            </a:r>
            <a:endParaRPr lang="en-IN" sz="3600" b="1" i="1" u="sng" dirty="0">
              <a:effectLst>
                <a:outerShdw blurRad="38100" dist="38100" dir="2700000" algn="tl">
                  <a:srgbClr val="000000">
                    <a:alpha val="43137"/>
                  </a:srgbClr>
                </a:outerShdw>
              </a:effectLst>
              <a:latin typeface="Algerian" panose="04020705040A02060702" pitchFamily="82" charset="0"/>
            </a:endParaRPr>
          </a:p>
        </p:txBody>
      </p:sp>
      <p:sp>
        <p:nvSpPr>
          <p:cNvPr id="11" name="Rectangle 1">
            <a:extLst>
              <a:ext uri="{FF2B5EF4-FFF2-40B4-BE49-F238E27FC236}">
                <a16:creationId xmlns:a16="http://schemas.microsoft.com/office/drawing/2014/main" id="{A7F08FD2-C0D7-E7E6-A1B5-1F43F0E09E78}"/>
              </a:ext>
            </a:extLst>
          </p:cNvPr>
          <p:cNvSpPr>
            <a:spLocks noChangeArrowheads="1"/>
          </p:cNvSpPr>
          <p:nvPr/>
        </p:nvSpPr>
        <p:spPr bwMode="auto">
          <a:xfrm>
            <a:off x="1028700" y="3505500"/>
            <a:ext cx="15840000" cy="327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0" b="1" i="0" u="none" strike="noStrike" cap="none" normalizeH="0" baseline="0" dirty="0">
                <a:ln>
                  <a:noFill/>
                </a:ln>
                <a:solidFill>
                  <a:schemeClr val="tx1"/>
                </a:solidFill>
                <a:effectLst/>
              </a:rPr>
              <a:t>Develop a Customer Churn Forecasting system that analyzes customer data to identify customers at high risk of leaving a product or service. The system will use data preprocessing, exploratory analysis, feature engineering, and machine learning models to predict churn and provide actionable insights that help businesses improve customer retention and reduce customer loss.</a:t>
            </a:r>
            <a:endParaRPr kumimoji="0" lang="en-US" altLang="en-US" sz="4000" b="0" i="0" u="none" strike="noStrike" cap="none" normalizeH="0" baseline="0" dirty="0">
              <a:ln>
                <a:noFill/>
              </a:ln>
              <a:solidFill>
                <a:schemeClr val="tx1"/>
              </a:solidFill>
              <a:effectLst/>
            </a:endParaRPr>
          </a:p>
        </p:txBody>
      </p:sp>
      <p:sp>
        <p:nvSpPr>
          <p:cNvPr id="12" name="Freeform 8">
            <a:extLst>
              <a:ext uri="{FF2B5EF4-FFF2-40B4-BE49-F238E27FC236}">
                <a16:creationId xmlns:a16="http://schemas.microsoft.com/office/drawing/2014/main" id="{DE85AA52-F8D7-3ED9-CC4D-0118237AF03C}"/>
              </a:ext>
            </a:extLst>
          </p:cNvPr>
          <p:cNvSpPr/>
          <p:nvPr/>
        </p:nvSpPr>
        <p:spPr>
          <a:xfrm flipH="1">
            <a:off x="14066563" y="6781500"/>
            <a:ext cx="3228900" cy="3327429"/>
          </a:xfrm>
          <a:custGeom>
            <a:avLst/>
            <a:gdLst/>
            <a:ahLst/>
            <a:cxnLst/>
            <a:rect l="l" t="t" r="r" b="b"/>
            <a:pathLst>
              <a:path w="4419226" h="3816604">
                <a:moveTo>
                  <a:pt x="4419226" y="0"/>
                </a:moveTo>
                <a:lnTo>
                  <a:pt x="0" y="0"/>
                </a:lnTo>
                <a:lnTo>
                  <a:pt x="0" y="3816604"/>
                </a:lnTo>
                <a:lnTo>
                  <a:pt x="4419226" y="3816604"/>
                </a:lnTo>
                <a:lnTo>
                  <a:pt x="4419226" y="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2821201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65318" y="-362960"/>
            <a:ext cx="7113447" cy="3967426"/>
            <a:chOff x="0" y="0"/>
            <a:chExt cx="1102059" cy="614658"/>
          </a:xfrm>
        </p:grpSpPr>
        <p:sp>
          <p:nvSpPr>
            <p:cNvPr id="3" name="Freeform 3"/>
            <p:cNvSpPr/>
            <p:nvPr/>
          </p:nvSpPr>
          <p:spPr>
            <a:xfrm>
              <a:off x="0" y="0"/>
              <a:ext cx="1102059" cy="614658"/>
            </a:xfrm>
            <a:custGeom>
              <a:avLst/>
              <a:gdLst/>
              <a:ahLst/>
              <a:cxnLst/>
              <a:rect l="l" t="t" r="r" b="b"/>
              <a:pathLst>
                <a:path w="1102059" h="614658">
                  <a:moveTo>
                    <a:pt x="38092" y="0"/>
                  </a:moveTo>
                  <a:lnTo>
                    <a:pt x="1063967" y="0"/>
                  </a:lnTo>
                  <a:cubicBezTo>
                    <a:pt x="1085005" y="0"/>
                    <a:pt x="1102059" y="17054"/>
                    <a:pt x="1102059" y="38092"/>
                  </a:cubicBezTo>
                  <a:lnTo>
                    <a:pt x="1102059" y="576566"/>
                  </a:lnTo>
                  <a:cubicBezTo>
                    <a:pt x="1102059" y="586668"/>
                    <a:pt x="1098046" y="596357"/>
                    <a:pt x="1090902" y="603501"/>
                  </a:cubicBezTo>
                  <a:cubicBezTo>
                    <a:pt x="1083758" y="610645"/>
                    <a:pt x="1074070" y="614658"/>
                    <a:pt x="1063967" y="614658"/>
                  </a:cubicBezTo>
                  <a:lnTo>
                    <a:pt x="38092" y="614658"/>
                  </a:lnTo>
                  <a:cubicBezTo>
                    <a:pt x="27990" y="614658"/>
                    <a:pt x="18301" y="610645"/>
                    <a:pt x="11157" y="603501"/>
                  </a:cubicBezTo>
                  <a:cubicBezTo>
                    <a:pt x="4013" y="596357"/>
                    <a:pt x="0" y="586668"/>
                    <a:pt x="0" y="576566"/>
                  </a:cubicBezTo>
                  <a:lnTo>
                    <a:pt x="0" y="38092"/>
                  </a:lnTo>
                  <a:cubicBezTo>
                    <a:pt x="0" y="27990"/>
                    <a:pt x="4013" y="18301"/>
                    <a:pt x="11157" y="11157"/>
                  </a:cubicBezTo>
                  <a:cubicBezTo>
                    <a:pt x="18301" y="4013"/>
                    <a:pt x="27990" y="0"/>
                    <a:pt x="38092" y="0"/>
                  </a:cubicBezTo>
                  <a:close/>
                </a:path>
              </a:pathLst>
            </a:custGeom>
            <a:solidFill>
              <a:srgbClr val="F3F3F3"/>
            </a:solidFill>
            <a:ln w="95250" cap="rnd">
              <a:solidFill>
                <a:srgbClr val="1FBBD2"/>
              </a:solidFill>
              <a:prstDash val="solid"/>
              <a:round/>
            </a:ln>
          </p:spPr>
        </p:sp>
      </p:grpSp>
      <p:sp>
        <p:nvSpPr>
          <p:cNvPr id="6" name="Freeform 6"/>
          <p:cNvSpPr/>
          <p:nvPr/>
        </p:nvSpPr>
        <p:spPr>
          <a:xfrm>
            <a:off x="2191255" y="0"/>
            <a:ext cx="5431386" cy="3604465"/>
          </a:xfrm>
          <a:custGeom>
            <a:avLst/>
            <a:gdLst/>
            <a:ahLst/>
            <a:cxnLst/>
            <a:rect l="l" t="t" r="r" b="b"/>
            <a:pathLst>
              <a:path w="5431386" h="3604465">
                <a:moveTo>
                  <a:pt x="0" y="0"/>
                </a:moveTo>
                <a:lnTo>
                  <a:pt x="5431386" y="0"/>
                </a:lnTo>
                <a:lnTo>
                  <a:pt x="5431386" y="3604465"/>
                </a:lnTo>
                <a:lnTo>
                  <a:pt x="0" y="36044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rot="1463427">
            <a:off x="15827168" y="940873"/>
            <a:ext cx="2038923" cy="1657088"/>
          </a:xfrm>
          <a:custGeom>
            <a:avLst/>
            <a:gdLst/>
            <a:ahLst/>
            <a:cxnLst/>
            <a:rect l="l" t="t" r="r" b="b"/>
            <a:pathLst>
              <a:path w="2038923" h="1657088">
                <a:moveTo>
                  <a:pt x="0" y="0"/>
                </a:moveTo>
                <a:lnTo>
                  <a:pt x="2038923" y="0"/>
                </a:lnTo>
                <a:lnTo>
                  <a:pt x="2038923" y="1657088"/>
                </a:lnTo>
                <a:lnTo>
                  <a:pt x="0" y="16570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rot="735265" flipH="1">
            <a:off x="7711485" y="8379001"/>
            <a:ext cx="1572657" cy="1572657"/>
          </a:xfrm>
          <a:custGeom>
            <a:avLst/>
            <a:gdLst/>
            <a:ahLst/>
            <a:cxnLst/>
            <a:rect l="l" t="t" r="r" b="b"/>
            <a:pathLst>
              <a:path w="1572657" h="1572657">
                <a:moveTo>
                  <a:pt x="1572657" y="0"/>
                </a:moveTo>
                <a:lnTo>
                  <a:pt x="0" y="0"/>
                </a:lnTo>
                <a:lnTo>
                  <a:pt x="0" y="1572657"/>
                </a:lnTo>
                <a:lnTo>
                  <a:pt x="1572657" y="1572657"/>
                </a:lnTo>
                <a:lnTo>
                  <a:pt x="1572657"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TextBox 10"/>
          <p:cNvSpPr txBox="1"/>
          <p:nvPr/>
        </p:nvSpPr>
        <p:spPr>
          <a:xfrm>
            <a:off x="1565318" y="3969479"/>
            <a:ext cx="7867807" cy="1744067"/>
          </a:xfrm>
          <a:prstGeom prst="rect">
            <a:avLst/>
          </a:prstGeom>
        </p:spPr>
        <p:txBody>
          <a:bodyPr lIns="0" tIns="0" rIns="0" bIns="0" rtlCol="0" anchor="t">
            <a:spAutoFit/>
          </a:bodyPr>
          <a:lstStyle/>
          <a:p>
            <a:pPr algn="l">
              <a:lnSpc>
                <a:spcPts val="6800"/>
              </a:lnSpc>
            </a:pPr>
            <a:r>
              <a:rPr lang="en-US" sz="6800" spc="-374" dirty="0">
                <a:solidFill>
                  <a:srgbClr val="231F20"/>
                </a:solidFill>
                <a:latin typeface="Heading Now 71-78"/>
                <a:ea typeface="Heading Now 71-78"/>
                <a:cs typeface="Heading Now 71-78"/>
                <a:sym typeface="Heading Now 71-78"/>
              </a:rPr>
              <a:t>DATASET -OVERVIEW</a:t>
            </a:r>
          </a:p>
        </p:txBody>
      </p:sp>
      <p:pic>
        <p:nvPicPr>
          <p:cNvPr id="13" name="Picture 12">
            <a:extLst>
              <a:ext uri="{FF2B5EF4-FFF2-40B4-BE49-F238E27FC236}">
                <a16:creationId xmlns:a16="http://schemas.microsoft.com/office/drawing/2014/main" id="{C0D54710-20A8-C8AC-CC4E-6115D1F7F995}"/>
              </a:ext>
            </a:extLst>
          </p:cNvPr>
          <p:cNvPicPr>
            <a:picLocks noChangeAspect="1"/>
          </p:cNvPicPr>
          <p:nvPr/>
        </p:nvPicPr>
        <p:blipFill>
          <a:blip r:embed="rId8"/>
          <a:stretch>
            <a:fillRect/>
          </a:stretch>
        </p:blipFill>
        <p:spPr>
          <a:xfrm>
            <a:off x="10982477" y="3974922"/>
            <a:ext cx="6839951" cy="5385843"/>
          </a:xfrm>
          <a:prstGeom prst="rect">
            <a:avLst/>
          </a:prstGeom>
        </p:spPr>
      </p:pic>
      <p:sp>
        <p:nvSpPr>
          <p:cNvPr id="16" name="TextBox 15">
            <a:extLst>
              <a:ext uri="{FF2B5EF4-FFF2-40B4-BE49-F238E27FC236}">
                <a16:creationId xmlns:a16="http://schemas.microsoft.com/office/drawing/2014/main" id="{3A89DC3E-C204-2CF6-8DE8-19E4E3745ACF}"/>
              </a:ext>
            </a:extLst>
          </p:cNvPr>
          <p:cNvSpPr txBox="1"/>
          <p:nvPr/>
        </p:nvSpPr>
        <p:spPr>
          <a:xfrm>
            <a:off x="904068" y="5806440"/>
            <a:ext cx="10515600" cy="2923877"/>
          </a:xfrm>
          <a:prstGeom prst="rect">
            <a:avLst/>
          </a:prstGeom>
          <a:noFill/>
        </p:spPr>
        <p:txBody>
          <a:bodyPr wrap="square">
            <a:spAutoFit/>
          </a:bodyPr>
          <a:lstStyle/>
          <a:p>
            <a:pPr>
              <a:spcAft>
                <a:spcPts val="1200"/>
              </a:spcAft>
              <a:defRPr sz="2000">
                <a:solidFill>
                  <a:srgbClr val="18273A"/>
                </a:solidFill>
              </a:defRPr>
            </a:pPr>
            <a:r>
              <a:rPr sz="2400" dirty="0"/>
              <a:t>• Dataset: IBM Telco Customer Churn</a:t>
            </a:r>
          </a:p>
          <a:p>
            <a:pPr>
              <a:spcAft>
                <a:spcPts val="1200"/>
              </a:spcAft>
              <a:defRPr sz="2000">
                <a:solidFill>
                  <a:srgbClr val="18273A"/>
                </a:solidFill>
              </a:defRPr>
            </a:pPr>
            <a:r>
              <a:rPr sz="2400" dirty="0"/>
              <a:t>• Target variable: Churn</a:t>
            </a:r>
          </a:p>
          <a:p>
            <a:pPr>
              <a:spcAft>
                <a:spcPts val="1200"/>
              </a:spcAft>
              <a:defRPr sz="2000">
                <a:solidFill>
                  <a:srgbClr val="18273A"/>
                </a:solidFill>
              </a:defRPr>
            </a:pPr>
            <a:r>
              <a:rPr sz="2400" dirty="0"/>
              <a:t>• Customer, service, contract and billing information are included.</a:t>
            </a:r>
          </a:p>
          <a:p>
            <a:pPr>
              <a:spcAft>
                <a:spcPts val="1200"/>
              </a:spcAft>
              <a:defRPr sz="2000">
                <a:solidFill>
                  <a:srgbClr val="18273A"/>
                </a:solidFill>
              </a:defRPr>
            </a:pPr>
            <a:r>
              <a:rPr sz="2400" dirty="0"/>
              <a:t>• Key variables include tenure, </a:t>
            </a:r>
            <a:r>
              <a:rPr sz="2400" dirty="0" err="1"/>
              <a:t>MonthlyCharges</a:t>
            </a:r>
            <a:r>
              <a:rPr sz="2400" dirty="0"/>
              <a:t>, </a:t>
            </a:r>
            <a:r>
              <a:rPr sz="2400" dirty="0" err="1"/>
              <a:t>TotalCharges</a:t>
            </a:r>
            <a:r>
              <a:rPr sz="2400" dirty="0"/>
              <a:t>, Contract, </a:t>
            </a:r>
            <a:r>
              <a:rPr sz="2400" dirty="0" err="1"/>
              <a:t>TechSupport</a:t>
            </a:r>
            <a:r>
              <a:rPr sz="2400" dirty="0"/>
              <a:t> and Dependents.</a:t>
            </a:r>
          </a:p>
          <a:p>
            <a:pPr>
              <a:spcAft>
                <a:spcPts val="1200"/>
              </a:spcAft>
              <a:defRPr sz="2000">
                <a:solidFill>
                  <a:srgbClr val="18273A"/>
                </a:solidFill>
              </a:defRPr>
            </a:pPr>
            <a:r>
              <a:rPr sz="2400" dirty="0"/>
              <a:t>• Churn is converted into a binary target: No = 0, Yes = 1.</a:t>
            </a:r>
          </a:p>
        </p:txBody>
      </p:sp>
      <p:sp>
        <p:nvSpPr>
          <p:cNvPr id="18" name="TextBox 17">
            <a:extLst>
              <a:ext uri="{FF2B5EF4-FFF2-40B4-BE49-F238E27FC236}">
                <a16:creationId xmlns:a16="http://schemas.microsoft.com/office/drawing/2014/main" id="{511B8AED-31D3-7BF4-2CC8-E8BC9CE42E91}"/>
              </a:ext>
            </a:extLst>
          </p:cNvPr>
          <p:cNvSpPr txBox="1"/>
          <p:nvPr/>
        </p:nvSpPr>
        <p:spPr>
          <a:xfrm>
            <a:off x="10881360" y="6537960"/>
            <a:ext cx="548640" cy="228600"/>
          </a:xfrm>
          <a:prstGeom prst="rect">
            <a:avLst/>
          </a:prstGeom>
          <a:noFill/>
        </p:spPr>
        <p:txBody>
          <a:bodyPr wrap="none">
            <a:spAutoFit/>
          </a:bodyPr>
          <a:lstStyle/>
          <a:p>
            <a:pPr algn="r">
              <a:defRPr sz="900">
                <a:solidFill>
                  <a:srgbClr val="5A646E"/>
                </a:solidFill>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585474" y="5448300"/>
            <a:ext cx="6318703" cy="3905251"/>
            <a:chOff x="0" y="0"/>
            <a:chExt cx="1722883" cy="1064822"/>
          </a:xfrm>
        </p:grpSpPr>
        <p:sp>
          <p:nvSpPr>
            <p:cNvPr id="3" name="Freeform 3"/>
            <p:cNvSpPr/>
            <p:nvPr/>
          </p:nvSpPr>
          <p:spPr>
            <a:xfrm>
              <a:off x="0" y="0"/>
              <a:ext cx="1722886" cy="1064822"/>
            </a:xfrm>
            <a:custGeom>
              <a:avLst/>
              <a:gdLst/>
              <a:ahLst/>
              <a:cxnLst/>
              <a:rect l="l" t="t" r="r" b="b"/>
              <a:pathLst>
                <a:path w="1722886" h="1064822">
                  <a:moveTo>
                    <a:pt x="1375927" y="0"/>
                  </a:moveTo>
                  <a:lnTo>
                    <a:pt x="148415" y="0"/>
                  </a:lnTo>
                  <a:cubicBezTo>
                    <a:pt x="66448" y="0"/>
                    <a:pt x="0" y="66448"/>
                    <a:pt x="0" y="148415"/>
                  </a:cubicBezTo>
                  <a:lnTo>
                    <a:pt x="0" y="785429"/>
                  </a:lnTo>
                  <a:cubicBezTo>
                    <a:pt x="0" y="821940"/>
                    <a:pt x="13458" y="857170"/>
                    <a:pt x="37800" y="884381"/>
                  </a:cubicBezTo>
                  <a:lnTo>
                    <a:pt x="154967" y="1015358"/>
                  </a:lnTo>
                  <a:cubicBezTo>
                    <a:pt x="183122" y="1046833"/>
                    <a:pt x="223353" y="1064823"/>
                    <a:pt x="265584" y="1064822"/>
                  </a:cubicBezTo>
                  <a:lnTo>
                    <a:pt x="1574470" y="1064822"/>
                  </a:lnTo>
                  <a:cubicBezTo>
                    <a:pt x="1613832" y="1064822"/>
                    <a:pt x="1651582" y="1049186"/>
                    <a:pt x="1679416" y="1021353"/>
                  </a:cubicBezTo>
                  <a:cubicBezTo>
                    <a:pt x="1707249" y="993519"/>
                    <a:pt x="1722886" y="955769"/>
                    <a:pt x="1722886" y="916407"/>
                  </a:cubicBezTo>
                  <a:lnTo>
                    <a:pt x="1722886" y="366141"/>
                  </a:lnTo>
                  <a:cubicBezTo>
                    <a:pt x="1722887" y="329143"/>
                    <a:pt x="1709067" y="293478"/>
                    <a:pt x="1684137" y="266140"/>
                  </a:cubicBezTo>
                  <a:lnTo>
                    <a:pt x="1485594" y="48414"/>
                  </a:lnTo>
                  <a:cubicBezTo>
                    <a:pt x="1457472" y="17574"/>
                    <a:pt x="1417664" y="0"/>
                    <a:pt x="1375927" y="0"/>
                  </a:cubicBezTo>
                  <a:close/>
                </a:path>
              </a:pathLst>
            </a:custGeom>
            <a:solidFill>
              <a:srgbClr val="F3F3F3"/>
            </a:solidFill>
            <a:ln w="95250" cap="sq">
              <a:solidFill>
                <a:srgbClr val="1FBBD2"/>
              </a:solidFill>
              <a:prstDash val="solid"/>
              <a:miter/>
            </a:ln>
          </p:spPr>
        </p:sp>
      </p:grpSp>
      <p:sp>
        <p:nvSpPr>
          <p:cNvPr id="6" name="Freeform 6"/>
          <p:cNvSpPr/>
          <p:nvPr/>
        </p:nvSpPr>
        <p:spPr>
          <a:xfrm>
            <a:off x="11930232" y="5084023"/>
            <a:ext cx="4474441" cy="4181568"/>
          </a:xfrm>
          <a:custGeom>
            <a:avLst/>
            <a:gdLst/>
            <a:ahLst/>
            <a:cxnLst/>
            <a:rect l="l" t="t" r="r" b="b"/>
            <a:pathLst>
              <a:path w="4474441" h="4181568">
                <a:moveTo>
                  <a:pt x="0" y="0"/>
                </a:moveTo>
                <a:lnTo>
                  <a:pt x="4474441" y="0"/>
                </a:lnTo>
                <a:lnTo>
                  <a:pt x="4474441" y="4181569"/>
                </a:lnTo>
                <a:lnTo>
                  <a:pt x="0" y="41815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flipH="1">
            <a:off x="8558966" y="7960170"/>
            <a:ext cx="1674435" cy="1860483"/>
          </a:xfrm>
          <a:custGeom>
            <a:avLst/>
            <a:gdLst/>
            <a:ahLst/>
            <a:cxnLst/>
            <a:rect l="l" t="t" r="r" b="b"/>
            <a:pathLst>
              <a:path w="1674435" h="1860483">
                <a:moveTo>
                  <a:pt x="1674435" y="0"/>
                </a:moveTo>
                <a:lnTo>
                  <a:pt x="0" y="0"/>
                </a:lnTo>
                <a:lnTo>
                  <a:pt x="0" y="1860483"/>
                </a:lnTo>
                <a:lnTo>
                  <a:pt x="1674435" y="1860483"/>
                </a:lnTo>
                <a:lnTo>
                  <a:pt x="1674435"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6404673" y="366652"/>
            <a:ext cx="1436822" cy="1496689"/>
          </a:xfrm>
          <a:custGeom>
            <a:avLst/>
            <a:gdLst/>
            <a:ahLst/>
            <a:cxnLst/>
            <a:rect l="l" t="t" r="r" b="b"/>
            <a:pathLst>
              <a:path w="1436822" h="1496689">
                <a:moveTo>
                  <a:pt x="0" y="0"/>
                </a:moveTo>
                <a:lnTo>
                  <a:pt x="1436821" y="0"/>
                </a:lnTo>
                <a:lnTo>
                  <a:pt x="1436821" y="1496689"/>
                </a:lnTo>
                <a:lnTo>
                  <a:pt x="0" y="14966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p:cNvSpPr txBox="1"/>
          <p:nvPr/>
        </p:nvSpPr>
        <p:spPr>
          <a:xfrm>
            <a:off x="1530831" y="6712491"/>
            <a:ext cx="7357812" cy="1925320"/>
          </a:xfrm>
          <a:prstGeom prst="rect">
            <a:avLst/>
          </a:prstGeom>
        </p:spPr>
        <p:txBody>
          <a:bodyPr lIns="0" tIns="0" rIns="0" bIns="0" rtlCol="0" anchor="t">
            <a:spAutoFit/>
          </a:bodyPr>
          <a:lstStyle/>
          <a:p>
            <a:pPr algn="l">
              <a:lnSpc>
                <a:spcPts val="6800"/>
              </a:lnSpc>
            </a:pPr>
            <a:r>
              <a:rPr lang="en-US" sz="6800" spc="-374">
                <a:solidFill>
                  <a:srgbClr val="231F20"/>
                </a:solidFill>
                <a:latin typeface="Heading Now 71-78"/>
                <a:ea typeface="Heading Now 71-78"/>
                <a:cs typeface="Heading Now 71-78"/>
                <a:sym typeface="Heading Now 71-78"/>
              </a:rPr>
              <a:t>Target Customer Profile</a:t>
            </a:r>
          </a:p>
        </p:txBody>
      </p:sp>
      <p:sp>
        <p:nvSpPr>
          <p:cNvPr id="10" name="TextBox 10"/>
          <p:cNvSpPr txBox="1"/>
          <p:nvPr/>
        </p:nvSpPr>
        <p:spPr>
          <a:xfrm>
            <a:off x="10403617" y="2416908"/>
            <a:ext cx="6318703" cy="2599430"/>
          </a:xfrm>
          <a:prstGeom prst="rect">
            <a:avLst/>
          </a:prstGeom>
        </p:spPr>
        <p:txBody>
          <a:bodyPr lIns="0" tIns="0" rIns="0" bIns="0" rtlCol="0" anchor="t">
            <a:spAutoFit/>
          </a:bodyPr>
          <a:lstStyle/>
          <a:p>
            <a:pPr>
              <a:lnSpc>
                <a:spcPts val="3359"/>
              </a:lnSpc>
            </a:pPr>
            <a:r>
              <a:rPr lang="en-US" sz="2400" dirty="0"/>
              <a:t>“The chart shows that </a:t>
            </a:r>
            <a:r>
              <a:rPr lang="en-US" sz="2400" dirty="0">
                <a:solidFill>
                  <a:srgbClr val="FF0000"/>
                </a:solidFill>
              </a:rPr>
              <a:t>26.5% </a:t>
            </a:r>
            <a:r>
              <a:rPr lang="en-US" sz="2400" dirty="0"/>
              <a:t>of customers have churned, while </a:t>
            </a:r>
            <a:r>
              <a:rPr lang="en-US" sz="2400" dirty="0">
                <a:solidFill>
                  <a:srgbClr val="663300"/>
                </a:solidFill>
              </a:rPr>
              <a:t>73.5% </a:t>
            </a:r>
            <a:r>
              <a:rPr lang="en-US" sz="2400" dirty="0"/>
              <a:t>have remained with the service. This indicates a high churn rate, suggesting that the business needs to focus on customer retention and identify the key factors driving customer loss.</a:t>
            </a:r>
            <a:endParaRPr lang="en-US" sz="2399" dirty="0">
              <a:solidFill>
                <a:srgbClr val="231F20"/>
              </a:solidFill>
              <a:latin typeface="TT Firs Neue"/>
              <a:ea typeface="TT Firs Neue"/>
              <a:cs typeface="TT Firs Neue"/>
              <a:sym typeface="TT Firs Neue"/>
            </a:endParaRPr>
          </a:p>
        </p:txBody>
      </p:sp>
      <p:sp>
        <p:nvSpPr>
          <p:cNvPr id="11" name="TextBox 11"/>
          <p:cNvSpPr txBox="1"/>
          <p:nvPr/>
        </p:nvSpPr>
        <p:spPr>
          <a:xfrm>
            <a:off x="10403617" y="1852363"/>
            <a:ext cx="5748568" cy="405809"/>
          </a:xfrm>
          <a:prstGeom prst="rect">
            <a:avLst/>
          </a:prstGeom>
        </p:spPr>
        <p:txBody>
          <a:bodyPr lIns="0" tIns="0" rIns="0" bIns="0" rtlCol="0" anchor="t">
            <a:spAutoFit/>
          </a:bodyPr>
          <a:lstStyle/>
          <a:p>
            <a:pPr algn="l">
              <a:lnSpc>
                <a:spcPts val="3359"/>
              </a:lnSpc>
            </a:pPr>
            <a:r>
              <a:rPr lang="en-US" sz="2400" b="1">
                <a:solidFill>
                  <a:srgbClr val="231F20"/>
                </a:solidFill>
                <a:latin typeface="TT Firs Neue Bold"/>
                <a:ea typeface="TT Firs Neue Bold"/>
                <a:cs typeface="TT Firs Neue Bold"/>
                <a:sym typeface="TT Firs Neue Bold"/>
              </a:rPr>
              <a:t>Defining Ideal Customer Segments</a:t>
            </a:r>
          </a:p>
        </p:txBody>
      </p:sp>
      <p:pic>
        <p:nvPicPr>
          <p:cNvPr id="13" name="Picture 12">
            <a:extLst>
              <a:ext uri="{FF2B5EF4-FFF2-40B4-BE49-F238E27FC236}">
                <a16:creationId xmlns:a16="http://schemas.microsoft.com/office/drawing/2014/main" id="{0A935A9C-A661-B026-9FBF-FD89CEA4D799}"/>
              </a:ext>
            </a:extLst>
          </p:cNvPr>
          <p:cNvPicPr>
            <a:picLocks noChangeAspect="1"/>
          </p:cNvPicPr>
          <p:nvPr/>
        </p:nvPicPr>
        <p:blipFill>
          <a:blip r:embed="rId8"/>
          <a:stretch>
            <a:fillRect/>
          </a:stretch>
        </p:blipFill>
        <p:spPr>
          <a:xfrm>
            <a:off x="990600" y="1104900"/>
            <a:ext cx="7773107" cy="467254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176369" y="7598186"/>
            <a:ext cx="5387289" cy="2597404"/>
            <a:chOff x="0" y="0"/>
            <a:chExt cx="2139087" cy="1043783"/>
          </a:xfrm>
        </p:grpSpPr>
        <p:sp>
          <p:nvSpPr>
            <p:cNvPr id="5" name="Freeform 5"/>
            <p:cNvSpPr/>
            <p:nvPr/>
          </p:nvSpPr>
          <p:spPr>
            <a:xfrm>
              <a:off x="0" y="0"/>
              <a:ext cx="2139086" cy="1043783"/>
            </a:xfrm>
            <a:custGeom>
              <a:avLst/>
              <a:gdLst/>
              <a:ahLst/>
              <a:cxnLst/>
              <a:rect l="l" t="t" r="r" b="b"/>
              <a:pathLst>
                <a:path w="2139086" h="1043783">
                  <a:moveTo>
                    <a:pt x="473267" y="77131"/>
                  </a:moveTo>
                  <a:lnTo>
                    <a:pt x="404467" y="249131"/>
                  </a:lnTo>
                  <a:cubicBezTo>
                    <a:pt x="385834" y="295713"/>
                    <a:pt x="340719" y="326259"/>
                    <a:pt x="290548" y="326262"/>
                  </a:cubicBezTo>
                  <a:lnTo>
                    <a:pt x="122702" y="326262"/>
                  </a:lnTo>
                  <a:cubicBezTo>
                    <a:pt x="54936" y="326262"/>
                    <a:pt x="1" y="381197"/>
                    <a:pt x="0" y="448963"/>
                  </a:cubicBezTo>
                  <a:lnTo>
                    <a:pt x="0" y="921081"/>
                  </a:lnTo>
                  <a:cubicBezTo>
                    <a:pt x="1" y="988848"/>
                    <a:pt x="54936" y="1043783"/>
                    <a:pt x="122702" y="1043783"/>
                  </a:cubicBezTo>
                  <a:lnTo>
                    <a:pt x="2016383" y="1043783"/>
                  </a:lnTo>
                  <a:cubicBezTo>
                    <a:pt x="2084149" y="1043783"/>
                    <a:pt x="2139085" y="988848"/>
                    <a:pt x="2139086" y="921081"/>
                  </a:cubicBezTo>
                  <a:lnTo>
                    <a:pt x="2139086" y="122701"/>
                  </a:lnTo>
                  <a:cubicBezTo>
                    <a:pt x="2139085" y="54935"/>
                    <a:pt x="2084150" y="1"/>
                    <a:pt x="2016384" y="0"/>
                  </a:cubicBezTo>
                  <a:lnTo>
                    <a:pt x="587191" y="0"/>
                  </a:lnTo>
                  <a:cubicBezTo>
                    <a:pt x="537018" y="0"/>
                    <a:pt x="491900" y="30547"/>
                    <a:pt x="473267" y="77131"/>
                  </a:cubicBezTo>
                  <a:lnTo>
                    <a:pt x="0" y="0"/>
                  </a:lnTo>
                  <a:cubicBezTo>
                    <a:pt x="0" y="0"/>
                    <a:pt x="473267" y="77131"/>
                    <a:pt x="473267" y="77131"/>
                  </a:cubicBezTo>
                  <a:close/>
                </a:path>
              </a:pathLst>
            </a:custGeom>
            <a:solidFill>
              <a:srgbClr val="F3F3F3"/>
            </a:solidFill>
            <a:ln w="95250" cap="rnd">
              <a:solidFill>
                <a:srgbClr val="1FBBD2"/>
              </a:solidFill>
              <a:prstDash val="solid"/>
              <a:round/>
            </a:ln>
          </p:spPr>
        </p:sp>
      </p:grpSp>
      <p:sp>
        <p:nvSpPr>
          <p:cNvPr id="7" name="Freeform 7"/>
          <p:cNvSpPr/>
          <p:nvPr/>
        </p:nvSpPr>
        <p:spPr>
          <a:xfrm>
            <a:off x="1676400" y="7540209"/>
            <a:ext cx="3025199" cy="2470975"/>
          </a:xfrm>
          <a:custGeom>
            <a:avLst/>
            <a:gdLst/>
            <a:ahLst/>
            <a:cxnLst/>
            <a:rect l="l" t="t" r="r" b="b"/>
            <a:pathLst>
              <a:path w="4526280" h="4114800">
                <a:moveTo>
                  <a:pt x="0" y="0"/>
                </a:moveTo>
                <a:lnTo>
                  <a:pt x="4526280" y="0"/>
                </a:lnTo>
                <a:lnTo>
                  <a:pt x="452628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rot="-1463030">
            <a:off x="15916345" y="616645"/>
            <a:ext cx="2002935" cy="2032498"/>
          </a:xfrm>
          <a:custGeom>
            <a:avLst/>
            <a:gdLst/>
            <a:ahLst/>
            <a:cxnLst/>
            <a:rect l="l" t="t" r="r" b="b"/>
            <a:pathLst>
              <a:path w="2002935" h="2032498">
                <a:moveTo>
                  <a:pt x="0" y="0"/>
                </a:moveTo>
                <a:lnTo>
                  <a:pt x="2002935" y="0"/>
                </a:lnTo>
                <a:lnTo>
                  <a:pt x="2002935" y="2032498"/>
                </a:lnTo>
                <a:lnTo>
                  <a:pt x="0" y="203249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a:off x="148162" y="741955"/>
            <a:ext cx="1469718" cy="1530957"/>
          </a:xfrm>
          <a:custGeom>
            <a:avLst/>
            <a:gdLst/>
            <a:ahLst/>
            <a:cxnLst/>
            <a:rect l="l" t="t" r="r" b="b"/>
            <a:pathLst>
              <a:path w="1469718" h="1530957">
                <a:moveTo>
                  <a:pt x="0" y="0"/>
                </a:moveTo>
                <a:lnTo>
                  <a:pt x="1469718" y="0"/>
                </a:lnTo>
                <a:lnTo>
                  <a:pt x="1469718" y="1530957"/>
                </a:lnTo>
                <a:lnTo>
                  <a:pt x="0" y="153095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TextBox 10"/>
          <p:cNvSpPr txBox="1"/>
          <p:nvPr/>
        </p:nvSpPr>
        <p:spPr>
          <a:xfrm>
            <a:off x="2069903" y="173895"/>
            <a:ext cx="6821385" cy="1925320"/>
          </a:xfrm>
          <a:prstGeom prst="rect">
            <a:avLst/>
          </a:prstGeom>
        </p:spPr>
        <p:txBody>
          <a:bodyPr lIns="0" tIns="0" rIns="0" bIns="0" rtlCol="0" anchor="t">
            <a:spAutoFit/>
          </a:bodyPr>
          <a:lstStyle/>
          <a:p>
            <a:pPr algn="l">
              <a:lnSpc>
                <a:spcPts val="6800"/>
              </a:lnSpc>
            </a:pPr>
            <a:r>
              <a:rPr lang="en-US" sz="6800" spc="-374" dirty="0">
                <a:solidFill>
                  <a:srgbClr val="231F20"/>
                </a:solidFill>
                <a:latin typeface="Heading Now 71-78"/>
                <a:ea typeface="Heading Now 71-78"/>
                <a:cs typeface="Heading Now 71-78"/>
                <a:sym typeface="Heading Now 71-78"/>
              </a:rPr>
              <a:t>Customer Needs Analysis</a:t>
            </a:r>
          </a:p>
        </p:txBody>
      </p:sp>
      <p:sp>
        <p:nvSpPr>
          <p:cNvPr id="11" name="TextBox 11"/>
          <p:cNvSpPr txBox="1"/>
          <p:nvPr/>
        </p:nvSpPr>
        <p:spPr>
          <a:xfrm>
            <a:off x="8902473" y="2477754"/>
            <a:ext cx="7203161" cy="3037883"/>
          </a:xfrm>
          <a:prstGeom prst="rect">
            <a:avLst/>
          </a:prstGeom>
        </p:spPr>
        <p:txBody>
          <a:bodyPr lIns="0" tIns="0" rIns="0" bIns="0" rtlCol="0" anchor="t">
            <a:spAutoFit/>
          </a:bodyPr>
          <a:lstStyle/>
          <a:p>
            <a:pPr>
              <a:lnSpc>
                <a:spcPts val="3359"/>
              </a:lnSpc>
            </a:pPr>
            <a:r>
              <a:rPr lang="en-US" sz="2800" dirty="0"/>
              <a:t>The chart shows an inverse relationship between tenure and churn rate. Customers with lower tenure have a relatively higher churn rate, while the churn rate generally decreases as tenure increases. This indicates that newer customers may be more vulnerable to churn, making tenure an important feature for churn prediction.</a:t>
            </a:r>
            <a:endParaRPr lang="en-US" sz="2800" dirty="0">
              <a:solidFill>
                <a:srgbClr val="231F20"/>
              </a:solidFill>
              <a:ea typeface="TT Firs Neue"/>
              <a:cs typeface="TT Firs Neue"/>
              <a:sym typeface="TT Firs Neue"/>
            </a:endParaRPr>
          </a:p>
        </p:txBody>
      </p:sp>
      <p:sp>
        <p:nvSpPr>
          <p:cNvPr id="12" name="TextBox 12"/>
          <p:cNvSpPr txBox="1"/>
          <p:nvPr/>
        </p:nvSpPr>
        <p:spPr>
          <a:xfrm>
            <a:off x="9385528" y="2071945"/>
            <a:ext cx="5748568" cy="405809"/>
          </a:xfrm>
          <a:prstGeom prst="rect">
            <a:avLst/>
          </a:prstGeom>
        </p:spPr>
        <p:txBody>
          <a:bodyPr lIns="0" tIns="0" rIns="0" bIns="0" rtlCol="0" anchor="t">
            <a:spAutoFit/>
          </a:bodyPr>
          <a:lstStyle/>
          <a:p>
            <a:pPr algn="l">
              <a:lnSpc>
                <a:spcPts val="3359"/>
              </a:lnSpc>
            </a:pPr>
            <a:r>
              <a:rPr lang="en-US" sz="2400" b="1">
                <a:solidFill>
                  <a:srgbClr val="231F20"/>
                </a:solidFill>
                <a:latin typeface="TT Firs Neue Bold"/>
                <a:ea typeface="TT Firs Neue Bold"/>
                <a:cs typeface="TT Firs Neue Bold"/>
                <a:sym typeface="TT Firs Neue Bold"/>
              </a:rPr>
              <a:t>Identifying Needs and Pain Points</a:t>
            </a:r>
          </a:p>
        </p:txBody>
      </p:sp>
      <p:pic>
        <p:nvPicPr>
          <p:cNvPr id="14" name="Picture 13">
            <a:extLst>
              <a:ext uri="{FF2B5EF4-FFF2-40B4-BE49-F238E27FC236}">
                <a16:creationId xmlns:a16="http://schemas.microsoft.com/office/drawing/2014/main" id="{B9591E1F-686C-9664-DC1A-E0346858F1E7}"/>
              </a:ext>
            </a:extLst>
          </p:cNvPr>
          <p:cNvPicPr>
            <a:picLocks noChangeAspect="1"/>
          </p:cNvPicPr>
          <p:nvPr/>
        </p:nvPicPr>
        <p:blipFill>
          <a:blip r:embed="rId8"/>
          <a:stretch>
            <a:fillRect/>
          </a:stretch>
        </p:blipFill>
        <p:spPr>
          <a:xfrm>
            <a:off x="12259812" y="6361132"/>
            <a:ext cx="5208563" cy="3514833"/>
          </a:xfrm>
          <a:prstGeom prst="rect">
            <a:avLst/>
          </a:prstGeom>
        </p:spPr>
      </p:pic>
      <p:pic>
        <p:nvPicPr>
          <p:cNvPr id="16" name="Picture 15">
            <a:extLst>
              <a:ext uri="{FF2B5EF4-FFF2-40B4-BE49-F238E27FC236}">
                <a16:creationId xmlns:a16="http://schemas.microsoft.com/office/drawing/2014/main" id="{369F0DCE-F115-B668-4E07-2A38AE6E92A9}"/>
              </a:ext>
            </a:extLst>
          </p:cNvPr>
          <p:cNvPicPr>
            <a:picLocks noChangeAspect="1"/>
          </p:cNvPicPr>
          <p:nvPr/>
        </p:nvPicPr>
        <p:blipFill>
          <a:blip r:embed="rId9"/>
          <a:stretch>
            <a:fillRect/>
          </a:stretch>
        </p:blipFill>
        <p:spPr>
          <a:xfrm>
            <a:off x="870106" y="2636489"/>
            <a:ext cx="7892894" cy="372464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8551300" y="44092"/>
            <a:ext cx="1295400" cy="1363281"/>
          </a:xfrm>
          <a:custGeom>
            <a:avLst/>
            <a:gdLst/>
            <a:ahLst/>
            <a:cxnLst/>
            <a:rect l="l" t="t" r="r" b="b"/>
            <a:pathLst>
              <a:path w="2015603" h="1363281">
                <a:moveTo>
                  <a:pt x="0" y="0"/>
                </a:moveTo>
                <a:lnTo>
                  <a:pt x="2015604" y="0"/>
                </a:lnTo>
                <a:lnTo>
                  <a:pt x="2015604" y="1363281"/>
                </a:lnTo>
                <a:lnTo>
                  <a:pt x="0" y="13632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6" name="TextBox 6"/>
          <p:cNvSpPr txBox="1"/>
          <p:nvPr/>
        </p:nvSpPr>
        <p:spPr>
          <a:xfrm>
            <a:off x="9818286" y="2927707"/>
            <a:ext cx="7032794" cy="872034"/>
          </a:xfrm>
          <a:prstGeom prst="rect">
            <a:avLst/>
          </a:prstGeom>
        </p:spPr>
        <p:txBody>
          <a:bodyPr lIns="0" tIns="0" rIns="0" bIns="0" rtlCol="0" anchor="t">
            <a:spAutoFit/>
          </a:bodyPr>
          <a:lstStyle/>
          <a:p>
            <a:pPr algn="l">
              <a:lnSpc>
                <a:spcPts val="6800"/>
              </a:lnSpc>
            </a:pPr>
            <a:endParaRPr lang="en-US" sz="6800" spc="-374" dirty="0">
              <a:solidFill>
                <a:srgbClr val="231F20"/>
              </a:solidFill>
              <a:latin typeface="Heading Now 71-78"/>
              <a:ea typeface="Heading Now 71-78"/>
              <a:cs typeface="Heading Now 71-78"/>
              <a:sym typeface="Heading Now 71-78"/>
            </a:endParaRPr>
          </a:p>
        </p:txBody>
      </p:sp>
      <p:pic>
        <p:nvPicPr>
          <p:cNvPr id="12" name="Picture 11">
            <a:extLst>
              <a:ext uri="{FF2B5EF4-FFF2-40B4-BE49-F238E27FC236}">
                <a16:creationId xmlns:a16="http://schemas.microsoft.com/office/drawing/2014/main" id="{ECE2ABDB-4FCC-C024-23D5-998706C9B8BE}"/>
              </a:ext>
            </a:extLst>
          </p:cNvPr>
          <p:cNvPicPr>
            <a:picLocks noChangeAspect="1"/>
          </p:cNvPicPr>
          <p:nvPr/>
        </p:nvPicPr>
        <p:blipFill>
          <a:blip r:embed="rId4"/>
          <a:stretch>
            <a:fillRect/>
          </a:stretch>
        </p:blipFill>
        <p:spPr>
          <a:xfrm>
            <a:off x="335796" y="1407373"/>
            <a:ext cx="9144000" cy="4167058"/>
          </a:xfrm>
          <a:prstGeom prst="rect">
            <a:avLst/>
          </a:prstGeom>
        </p:spPr>
      </p:pic>
      <p:pic>
        <p:nvPicPr>
          <p:cNvPr id="14" name="Picture 13">
            <a:extLst>
              <a:ext uri="{FF2B5EF4-FFF2-40B4-BE49-F238E27FC236}">
                <a16:creationId xmlns:a16="http://schemas.microsoft.com/office/drawing/2014/main" id="{0FBB6364-11B3-6E1A-337F-F960F31AD005}"/>
              </a:ext>
            </a:extLst>
          </p:cNvPr>
          <p:cNvPicPr>
            <a:picLocks noChangeAspect="1"/>
          </p:cNvPicPr>
          <p:nvPr/>
        </p:nvPicPr>
        <p:blipFill>
          <a:blip r:embed="rId5"/>
          <a:stretch>
            <a:fillRect/>
          </a:stretch>
        </p:blipFill>
        <p:spPr>
          <a:xfrm>
            <a:off x="11102806" y="4931690"/>
            <a:ext cx="7032794" cy="5333999"/>
          </a:xfrm>
          <a:prstGeom prst="rect">
            <a:avLst/>
          </a:prstGeom>
        </p:spPr>
      </p:pic>
      <p:sp>
        <p:nvSpPr>
          <p:cNvPr id="2" name="TextBox 1">
            <a:extLst>
              <a:ext uri="{FF2B5EF4-FFF2-40B4-BE49-F238E27FC236}">
                <a16:creationId xmlns:a16="http://schemas.microsoft.com/office/drawing/2014/main" id="{12BB73FF-ED36-081C-FA14-686F596561D7}"/>
              </a:ext>
            </a:extLst>
          </p:cNvPr>
          <p:cNvSpPr txBox="1"/>
          <p:nvPr/>
        </p:nvSpPr>
        <p:spPr>
          <a:xfrm>
            <a:off x="9677400" y="1485900"/>
            <a:ext cx="7173680" cy="2677656"/>
          </a:xfrm>
          <a:prstGeom prst="rect">
            <a:avLst/>
          </a:prstGeom>
          <a:noFill/>
        </p:spPr>
        <p:txBody>
          <a:bodyPr wrap="square" rtlCol="0">
            <a:spAutoFit/>
          </a:bodyPr>
          <a:lstStyle/>
          <a:p>
            <a:pPr marL="457200" indent="-457200">
              <a:buFont typeface="Arial" panose="020B0604020202020204" pitchFamily="34" charset="0"/>
              <a:buChar char="•"/>
            </a:pPr>
            <a:r>
              <a:rPr lang="en-US" sz="2800" dirty="0"/>
              <a:t>The chart shows that 1 month is the most frequently occurring tenure, followed by 72 months. This means a large number of customers are either very new customers or have stayed with the company for a long period.</a:t>
            </a:r>
            <a:endParaRPr lang="en-IN" sz="2800" dirty="0"/>
          </a:p>
        </p:txBody>
      </p:sp>
      <p:sp>
        <p:nvSpPr>
          <p:cNvPr id="3" name="TextBox 2">
            <a:extLst>
              <a:ext uri="{FF2B5EF4-FFF2-40B4-BE49-F238E27FC236}">
                <a16:creationId xmlns:a16="http://schemas.microsoft.com/office/drawing/2014/main" id="{90393572-7020-42B2-7FF7-A818397D6CDD}"/>
              </a:ext>
            </a:extLst>
          </p:cNvPr>
          <p:cNvSpPr txBox="1"/>
          <p:nvPr/>
        </p:nvSpPr>
        <p:spPr>
          <a:xfrm>
            <a:off x="304800" y="5605364"/>
            <a:ext cx="10363199" cy="3108543"/>
          </a:xfrm>
          <a:prstGeom prst="rect">
            <a:avLst/>
          </a:prstGeom>
          <a:noFill/>
        </p:spPr>
        <p:txBody>
          <a:bodyPr wrap="square" rtlCol="0">
            <a:spAutoFit/>
          </a:bodyPr>
          <a:lstStyle/>
          <a:p>
            <a:pPr marL="457200" indent="-457200">
              <a:buFont typeface="Arial" panose="020B0604020202020204" pitchFamily="34" charset="0"/>
              <a:buChar char="•"/>
            </a:pPr>
            <a:r>
              <a:rPr lang="en-US" sz="2800" dirty="0"/>
              <a:t>The first chart shows that 1 month is the most frequent tenure value, followed by 72 months. The second chart breaks these tenure values down by partner status. At 72 months, customers with a partner are more numerous than customers without a partner, whereas at 1 month, customers without a partner are more numerous. This shows how partner status varies across different tenure groups.</a:t>
            </a:r>
            <a:endParaRPr lang="en-IN"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1"/>
          <p:cNvSpPr txBox="1"/>
          <p:nvPr/>
        </p:nvSpPr>
        <p:spPr>
          <a:xfrm>
            <a:off x="13366850" y="424708"/>
            <a:ext cx="4082950" cy="1368323"/>
          </a:xfrm>
          <a:prstGeom prst="rect">
            <a:avLst/>
          </a:prstGeom>
        </p:spPr>
        <p:txBody>
          <a:bodyPr wrap="square" lIns="0" tIns="0" rIns="0" bIns="0" rtlCol="0" anchor="t">
            <a:spAutoFit/>
          </a:bodyPr>
          <a:lstStyle/>
          <a:p>
            <a:pPr algn="l">
              <a:lnSpc>
                <a:spcPts val="3359"/>
              </a:lnSpc>
            </a:pPr>
            <a:r>
              <a:rPr lang="en-US" sz="4400" b="1" dirty="0">
                <a:solidFill>
                  <a:srgbClr val="231F20"/>
                </a:solidFill>
                <a:latin typeface="TT Firs Neue Bold"/>
                <a:ea typeface="TT Firs Neue Bold"/>
                <a:cs typeface="TT Firs Neue Bold"/>
                <a:sym typeface="TT Firs Neue Bold"/>
              </a:rPr>
              <a:t>What Drives Customer Choices</a:t>
            </a:r>
          </a:p>
        </p:txBody>
      </p:sp>
      <p:pic>
        <p:nvPicPr>
          <p:cNvPr id="13" name="Picture 12">
            <a:extLst>
              <a:ext uri="{FF2B5EF4-FFF2-40B4-BE49-F238E27FC236}">
                <a16:creationId xmlns:a16="http://schemas.microsoft.com/office/drawing/2014/main" id="{0B444274-55F0-933F-3F12-DECAAAD8C0D2}"/>
              </a:ext>
            </a:extLst>
          </p:cNvPr>
          <p:cNvPicPr>
            <a:picLocks noChangeAspect="1"/>
          </p:cNvPicPr>
          <p:nvPr/>
        </p:nvPicPr>
        <p:blipFill>
          <a:blip r:embed="rId2"/>
          <a:stretch>
            <a:fillRect/>
          </a:stretch>
        </p:blipFill>
        <p:spPr>
          <a:xfrm>
            <a:off x="1371600" y="424708"/>
            <a:ext cx="8266883" cy="4693982"/>
          </a:xfrm>
          <a:prstGeom prst="rect">
            <a:avLst/>
          </a:prstGeom>
        </p:spPr>
      </p:pic>
      <p:pic>
        <p:nvPicPr>
          <p:cNvPr id="15" name="Picture 14">
            <a:extLst>
              <a:ext uri="{FF2B5EF4-FFF2-40B4-BE49-F238E27FC236}">
                <a16:creationId xmlns:a16="http://schemas.microsoft.com/office/drawing/2014/main" id="{B1948FAF-E667-864F-B9EB-90944108C387}"/>
              </a:ext>
            </a:extLst>
          </p:cNvPr>
          <p:cNvPicPr>
            <a:picLocks noChangeAspect="1"/>
          </p:cNvPicPr>
          <p:nvPr/>
        </p:nvPicPr>
        <p:blipFill>
          <a:blip r:embed="rId3"/>
          <a:stretch>
            <a:fillRect/>
          </a:stretch>
        </p:blipFill>
        <p:spPr>
          <a:xfrm>
            <a:off x="10591800" y="5822557"/>
            <a:ext cx="6629400" cy="4039735"/>
          </a:xfrm>
          <a:prstGeom prst="rect">
            <a:avLst/>
          </a:prstGeom>
        </p:spPr>
      </p:pic>
      <p:sp>
        <p:nvSpPr>
          <p:cNvPr id="2" name="TextBox 1">
            <a:extLst>
              <a:ext uri="{FF2B5EF4-FFF2-40B4-BE49-F238E27FC236}">
                <a16:creationId xmlns:a16="http://schemas.microsoft.com/office/drawing/2014/main" id="{DFE4CBD7-1671-04D7-89B4-3D6A91C35BB0}"/>
              </a:ext>
            </a:extLst>
          </p:cNvPr>
          <p:cNvSpPr txBox="1"/>
          <p:nvPr/>
        </p:nvSpPr>
        <p:spPr>
          <a:xfrm>
            <a:off x="609600" y="5381621"/>
            <a:ext cx="8153400" cy="3108543"/>
          </a:xfrm>
          <a:prstGeom prst="rect">
            <a:avLst/>
          </a:prstGeom>
          <a:noFill/>
        </p:spPr>
        <p:txBody>
          <a:bodyPr wrap="square" rtlCol="0">
            <a:spAutoFit/>
          </a:bodyPr>
          <a:lstStyle/>
          <a:p>
            <a:pPr marL="457200" indent="-457200">
              <a:buFont typeface="Arial" panose="020B0604020202020204" pitchFamily="34" charset="0"/>
              <a:buChar char="•"/>
            </a:pPr>
            <a:r>
              <a:rPr lang="en-US" sz="2800" dirty="0"/>
              <a:t>Customers on month-to-month contracts show higher churn rates compared with customers on one-year and two-year contracts. Customers with </a:t>
            </a:r>
            <a:r>
              <a:rPr lang="en-US" sz="2800" dirty="0">
                <a:ln>
                  <a:solidFill>
                    <a:srgbClr val="FF0000"/>
                  </a:solidFill>
                </a:ln>
              </a:rPr>
              <a:t>longer</a:t>
            </a:r>
            <a:r>
              <a:rPr lang="en-US" sz="2800" dirty="0"/>
              <a:t> </a:t>
            </a:r>
            <a:r>
              <a:rPr lang="en-US" sz="2800" dirty="0">
                <a:ln>
                  <a:solidFill>
                    <a:srgbClr val="FF0000"/>
                  </a:solidFill>
                </a:ln>
              </a:rPr>
              <a:t>tenure</a:t>
            </a:r>
            <a:r>
              <a:rPr lang="en-US" sz="2800" dirty="0"/>
              <a:t> also generally show </a:t>
            </a:r>
            <a:r>
              <a:rPr lang="en-US" sz="2800" dirty="0">
                <a:ln>
                  <a:solidFill>
                    <a:srgbClr val="FF0000"/>
                  </a:solidFill>
                </a:ln>
              </a:rPr>
              <a:t>lower</a:t>
            </a:r>
            <a:r>
              <a:rPr lang="en-US" sz="2800" dirty="0"/>
              <a:t> </a:t>
            </a:r>
            <a:r>
              <a:rPr lang="en-US" sz="2800" dirty="0">
                <a:ln>
                  <a:solidFill>
                    <a:srgbClr val="FF0000"/>
                  </a:solidFill>
                </a:ln>
              </a:rPr>
              <a:t>churn</a:t>
            </a:r>
            <a:r>
              <a:rPr lang="en-US" sz="2800" dirty="0"/>
              <a:t> rates, suggesting that newer customers and month-to-month customers are more associated with churn.</a:t>
            </a:r>
            <a:endParaRPr lang="en-IN" sz="2800" dirty="0"/>
          </a:p>
        </p:txBody>
      </p:sp>
      <p:sp>
        <p:nvSpPr>
          <p:cNvPr id="3" name="TextBox 2">
            <a:extLst>
              <a:ext uri="{FF2B5EF4-FFF2-40B4-BE49-F238E27FC236}">
                <a16:creationId xmlns:a16="http://schemas.microsoft.com/office/drawing/2014/main" id="{889DDF35-1EDC-CF03-E397-5B90A0357884}"/>
              </a:ext>
            </a:extLst>
          </p:cNvPr>
          <p:cNvSpPr txBox="1"/>
          <p:nvPr/>
        </p:nvSpPr>
        <p:spPr>
          <a:xfrm>
            <a:off x="11277600" y="2324100"/>
            <a:ext cx="5334000" cy="3539430"/>
          </a:xfrm>
          <a:prstGeom prst="rect">
            <a:avLst/>
          </a:prstGeom>
          <a:noFill/>
        </p:spPr>
        <p:txBody>
          <a:bodyPr wrap="square" rtlCol="0">
            <a:spAutoFit/>
          </a:bodyPr>
          <a:lstStyle/>
          <a:p>
            <a:pPr marL="457200" indent="-457200">
              <a:buFont typeface="Arial" panose="020B0604020202020204" pitchFamily="34" charset="0"/>
              <a:buChar char="•"/>
            </a:pPr>
            <a:r>
              <a:rPr lang="en-US" sz="2800" dirty="0"/>
              <a:t>Total charges generally increase with customer tenure because customers accumulate charges over a longer period. The chart also shows differences in total charges across contract categories.</a:t>
            </a:r>
          </a:p>
          <a:p>
            <a:endParaRPr lang="en-IN"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416398-3DA8-5E89-182D-3180AA44234D}"/>
              </a:ext>
            </a:extLst>
          </p:cNvPr>
          <p:cNvPicPr>
            <a:picLocks noChangeAspect="1"/>
          </p:cNvPicPr>
          <p:nvPr/>
        </p:nvPicPr>
        <p:blipFill>
          <a:blip r:embed="rId2"/>
          <a:stretch>
            <a:fillRect/>
          </a:stretch>
        </p:blipFill>
        <p:spPr>
          <a:xfrm>
            <a:off x="8511988" y="1028700"/>
            <a:ext cx="7794812" cy="6477000"/>
          </a:xfrm>
          <a:prstGeom prst="rect">
            <a:avLst/>
          </a:prstGeom>
        </p:spPr>
      </p:pic>
      <p:sp>
        <p:nvSpPr>
          <p:cNvPr id="5" name="TextBox 4">
            <a:extLst>
              <a:ext uri="{FF2B5EF4-FFF2-40B4-BE49-F238E27FC236}">
                <a16:creationId xmlns:a16="http://schemas.microsoft.com/office/drawing/2014/main" id="{5B6B0B4E-CA42-090A-5A34-A1CB780FFF5C}"/>
              </a:ext>
            </a:extLst>
          </p:cNvPr>
          <p:cNvSpPr txBox="1"/>
          <p:nvPr/>
        </p:nvSpPr>
        <p:spPr>
          <a:xfrm>
            <a:off x="1752600" y="3373784"/>
            <a:ext cx="6019800" cy="6124754"/>
          </a:xfrm>
          <a:prstGeom prst="rect">
            <a:avLst/>
          </a:prstGeom>
          <a:noFill/>
        </p:spPr>
        <p:txBody>
          <a:bodyPr wrap="square">
            <a:spAutoFit/>
          </a:bodyPr>
          <a:lstStyle/>
          <a:p>
            <a:pPr marL="457200" indent="-457200">
              <a:buFont typeface="Arial" panose="020B0604020202020204" pitchFamily="34" charset="0"/>
              <a:buChar char="•"/>
            </a:pPr>
            <a:r>
              <a:rPr lang="en-US" sz="2800" dirty="0"/>
              <a:t>The heatmap shows that tenure has a moderate negative correlation with churn, with a correlation coefficient of -0.35, indicating that churn generally decreases as tenure increases. Monthly charges have a weak positive correlation with churn at 0.19, while total charges have a weak negative correlation of -0.20. I also observed a strong positive correlation of 0.83 between tenure and total charges, which indicates that total charges generally increase as customer tenure increases.</a:t>
            </a: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B8A283-18DC-C3A0-3B69-CACA3333F8E3}"/>
              </a:ext>
            </a:extLst>
          </p:cNvPr>
          <p:cNvPicPr>
            <a:picLocks noChangeAspect="1"/>
          </p:cNvPicPr>
          <p:nvPr/>
        </p:nvPicPr>
        <p:blipFill>
          <a:blip r:embed="rId2"/>
          <a:stretch>
            <a:fillRect/>
          </a:stretch>
        </p:blipFill>
        <p:spPr>
          <a:xfrm>
            <a:off x="762000" y="968339"/>
            <a:ext cx="7391400" cy="4775415"/>
          </a:xfrm>
          <a:prstGeom prst="rect">
            <a:avLst/>
          </a:prstGeom>
        </p:spPr>
      </p:pic>
      <p:pic>
        <p:nvPicPr>
          <p:cNvPr id="5" name="Picture 4">
            <a:extLst>
              <a:ext uri="{FF2B5EF4-FFF2-40B4-BE49-F238E27FC236}">
                <a16:creationId xmlns:a16="http://schemas.microsoft.com/office/drawing/2014/main" id="{C533063A-240C-2B1A-4BE5-F21C4B58B62A}"/>
              </a:ext>
            </a:extLst>
          </p:cNvPr>
          <p:cNvPicPr>
            <a:picLocks noChangeAspect="1"/>
          </p:cNvPicPr>
          <p:nvPr/>
        </p:nvPicPr>
        <p:blipFill>
          <a:blip r:embed="rId3"/>
          <a:stretch>
            <a:fillRect/>
          </a:stretch>
        </p:blipFill>
        <p:spPr>
          <a:xfrm>
            <a:off x="10474249" y="968340"/>
            <a:ext cx="6666897" cy="4775414"/>
          </a:xfrm>
          <a:prstGeom prst="rect">
            <a:avLst/>
          </a:prstGeom>
          <a:effectLst>
            <a:reflection blurRad="6350" stA="52000" endA="300" endPos="35000" dir="5400000" sy="-100000" algn="bl" rotWithShape="0"/>
          </a:effectLst>
        </p:spPr>
      </p:pic>
      <p:sp>
        <p:nvSpPr>
          <p:cNvPr id="22" name="TextBox 21">
            <a:extLst>
              <a:ext uri="{FF2B5EF4-FFF2-40B4-BE49-F238E27FC236}">
                <a16:creationId xmlns:a16="http://schemas.microsoft.com/office/drawing/2014/main" id="{A717A8D6-E57D-81DC-3DC7-68FE0AE0C419}"/>
              </a:ext>
            </a:extLst>
          </p:cNvPr>
          <p:cNvSpPr txBox="1"/>
          <p:nvPr/>
        </p:nvSpPr>
        <p:spPr>
          <a:xfrm>
            <a:off x="1150729" y="4686300"/>
            <a:ext cx="12207498" cy="4524315"/>
          </a:xfrm>
          <a:prstGeom prst="rect">
            <a:avLst/>
          </a:prstGeom>
          <a:noFill/>
        </p:spPr>
        <p:txBody>
          <a:bodyPr wrap="square">
            <a:spAutoFit/>
          </a:bodyPr>
          <a:lstStyle/>
          <a:p>
            <a:endParaRPr lang="en-US" sz="3200" dirty="0"/>
          </a:p>
          <a:p>
            <a:endParaRPr lang="en-US" sz="3200" dirty="0"/>
          </a:p>
          <a:p>
            <a:endParaRPr lang="en-US" sz="3200" dirty="0"/>
          </a:p>
          <a:p>
            <a:endParaRPr lang="en-US" sz="3200" dirty="0"/>
          </a:p>
          <a:p>
            <a:pPr marL="457200" indent="-457200">
              <a:buFont typeface="Arial" panose="020B0604020202020204" pitchFamily="34" charset="0"/>
              <a:buChar char="•"/>
            </a:pPr>
            <a:r>
              <a:rPr lang="en-US" sz="3200" dirty="0"/>
              <a:t>The analysis shows that customers with partners have a lower churn rate compared with customers without partners. Similarly, customers with dependents have a lower churn rate than customers without dependents. This suggests that partner and dependent status are associated with customer churn in the dataset.</a:t>
            </a:r>
            <a:endParaRPr lang="en-IN"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4D718-019D-04C5-03E0-B3D38EAFB1C8}"/>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0EC02F1-E1CA-4FD5-3DC1-DEAD806BC309}"/>
              </a:ext>
            </a:extLst>
          </p:cNvPr>
          <p:cNvPicPr>
            <a:picLocks noChangeAspect="1"/>
          </p:cNvPicPr>
          <p:nvPr/>
        </p:nvPicPr>
        <p:blipFill>
          <a:blip r:embed="rId2"/>
          <a:stretch>
            <a:fillRect/>
          </a:stretch>
        </p:blipFill>
        <p:spPr>
          <a:xfrm>
            <a:off x="1381932" y="1409700"/>
            <a:ext cx="6563404" cy="438876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5" name="Picture 14">
            <a:extLst>
              <a:ext uri="{FF2B5EF4-FFF2-40B4-BE49-F238E27FC236}">
                <a16:creationId xmlns:a16="http://schemas.microsoft.com/office/drawing/2014/main" id="{7F61CF50-9F41-FEC7-F7BA-60445A5BD1C6}"/>
              </a:ext>
            </a:extLst>
          </p:cNvPr>
          <p:cNvPicPr>
            <a:picLocks noChangeAspect="1"/>
          </p:cNvPicPr>
          <p:nvPr/>
        </p:nvPicPr>
        <p:blipFill>
          <a:blip r:embed="rId3"/>
          <a:stretch>
            <a:fillRect/>
          </a:stretch>
        </p:blipFill>
        <p:spPr>
          <a:xfrm>
            <a:off x="10781654" y="4457700"/>
            <a:ext cx="6096000" cy="4892132"/>
          </a:xfrm>
          <a:prstGeom prst="rect">
            <a:avLst/>
          </a:prstGeom>
        </p:spPr>
      </p:pic>
      <p:sp>
        <p:nvSpPr>
          <p:cNvPr id="4" name="TextBox 3">
            <a:extLst>
              <a:ext uri="{FF2B5EF4-FFF2-40B4-BE49-F238E27FC236}">
                <a16:creationId xmlns:a16="http://schemas.microsoft.com/office/drawing/2014/main" id="{913EEA58-B334-2065-E2D5-EBA5479A7096}"/>
              </a:ext>
            </a:extLst>
          </p:cNvPr>
          <p:cNvSpPr txBox="1"/>
          <p:nvPr/>
        </p:nvSpPr>
        <p:spPr>
          <a:xfrm>
            <a:off x="8763000" y="2112568"/>
            <a:ext cx="7162800" cy="1938992"/>
          </a:xfrm>
          <a:prstGeom prst="rect">
            <a:avLst/>
          </a:prstGeom>
          <a:noFill/>
        </p:spPr>
        <p:txBody>
          <a:bodyPr wrap="square" rtlCol="0">
            <a:spAutoFit/>
          </a:bodyPr>
          <a:lstStyle/>
          <a:p>
            <a:pPr marL="342900" indent="-342900">
              <a:buFont typeface="Arial" panose="020B0604020202020204" pitchFamily="34" charset="0"/>
              <a:buChar char="•"/>
            </a:pPr>
            <a:r>
              <a:rPr lang="en-US" sz="2400" dirty="0"/>
              <a:t>Customers with phone service have a churn rate of approximately 26.7%, while customers without phone service have a churn rate of approximately 24.9%. Therefore, the churn rates are quite similar, with phone-service customers showing a slightly higher churn rate.</a:t>
            </a:r>
          </a:p>
        </p:txBody>
      </p:sp>
      <p:sp>
        <p:nvSpPr>
          <p:cNvPr id="6" name="TextBox 5">
            <a:extLst>
              <a:ext uri="{FF2B5EF4-FFF2-40B4-BE49-F238E27FC236}">
                <a16:creationId xmlns:a16="http://schemas.microsoft.com/office/drawing/2014/main" id="{763AC20A-A844-9883-CAB6-B1335092BE6A}"/>
              </a:ext>
            </a:extLst>
          </p:cNvPr>
          <p:cNvSpPr txBox="1"/>
          <p:nvPr/>
        </p:nvSpPr>
        <p:spPr>
          <a:xfrm>
            <a:off x="1066800" y="7200900"/>
            <a:ext cx="9714854" cy="1569660"/>
          </a:xfrm>
          <a:prstGeom prst="rect">
            <a:avLst/>
          </a:prstGeom>
          <a:noFill/>
        </p:spPr>
        <p:txBody>
          <a:bodyPr wrap="square" rtlCol="0">
            <a:spAutoFit/>
          </a:bodyPr>
          <a:lstStyle/>
          <a:p>
            <a:pPr marL="342900" indent="-342900">
              <a:buFont typeface="Arial" panose="020B0604020202020204" pitchFamily="34" charset="0"/>
              <a:buChar char="•"/>
            </a:pPr>
            <a:r>
              <a:rPr lang="en-US" sz="2400" dirty="0"/>
              <a:t>Customers without online security have the highest churn rate at approximately 41.8%. Customers with online security have a much lower churn rate of approximately 14.6%, while customers with no internet service have the lowest churn rate at approximately 7.4%</a:t>
            </a:r>
            <a:endParaRPr lang="en-IN" sz="2400" dirty="0"/>
          </a:p>
        </p:txBody>
      </p:sp>
    </p:spTree>
    <p:extLst>
      <p:ext uri="{BB962C8B-B14F-4D97-AF65-F5344CB8AC3E}">
        <p14:creationId xmlns:p14="http://schemas.microsoft.com/office/powerpoint/2010/main" val="20901111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CA3F5-B00D-BDFF-FB59-E39C0408D24C}"/>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039029B7-6A87-F90A-251E-A06DD0B1BECD}"/>
              </a:ext>
            </a:extLst>
          </p:cNvPr>
          <p:cNvPicPr>
            <a:picLocks noChangeAspect="1"/>
          </p:cNvPicPr>
          <p:nvPr/>
        </p:nvPicPr>
        <p:blipFill>
          <a:blip r:embed="rId2"/>
          <a:stretch>
            <a:fillRect/>
          </a:stretch>
        </p:blipFill>
        <p:spPr>
          <a:xfrm>
            <a:off x="1066800" y="1104900"/>
            <a:ext cx="8077200" cy="5181600"/>
          </a:xfrm>
          <a:prstGeom prst="rect">
            <a:avLst/>
          </a:prstGeom>
        </p:spPr>
      </p:pic>
      <p:pic>
        <p:nvPicPr>
          <p:cNvPr id="13" name="Picture 12">
            <a:extLst>
              <a:ext uri="{FF2B5EF4-FFF2-40B4-BE49-F238E27FC236}">
                <a16:creationId xmlns:a16="http://schemas.microsoft.com/office/drawing/2014/main" id="{081C4BEA-FA7F-69FC-6483-5F8B0D33FE59}"/>
              </a:ext>
            </a:extLst>
          </p:cNvPr>
          <p:cNvPicPr>
            <a:picLocks noChangeAspect="1"/>
          </p:cNvPicPr>
          <p:nvPr/>
        </p:nvPicPr>
        <p:blipFill>
          <a:blip r:embed="rId3"/>
          <a:stretch>
            <a:fillRect/>
          </a:stretch>
        </p:blipFill>
        <p:spPr>
          <a:xfrm>
            <a:off x="11430000" y="4762500"/>
            <a:ext cx="5638800" cy="4273699"/>
          </a:xfrm>
          <a:prstGeom prst="rect">
            <a:avLst/>
          </a:prstGeom>
        </p:spPr>
      </p:pic>
      <p:sp>
        <p:nvSpPr>
          <p:cNvPr id="4" name="TextBox 3">
            <a:extLst>
              <a:ext uri="{FF2B5EF4-FFF2-40B4-BE49-F238E27FC236}">
                <a16:creationId xmlns:a16="http://schemas.microsoft.com/office/drawing/2014/main" id="{11C3C022-154B-C308-482A-55479C10D202}"/>
              </a:ext>
            </a:extLst>
          </p:cNvPr>
          <p:cNvSpPr txBox="1"/>
          <p:nvPr/>
        </p:nvSpPr>
        <p:spPr>
          <a:xfrm>
            <a:off x="9296400" y="1790700"/>
            <a:ext cx="7391400" cy="2246769"/>
          </a:xfrm>
          <a:prstGeom prst="rect">
            <a:avLst/>
          </a:prstGeom>
          <a:noFill/>
        </p:spPr>
        <p:txBody>
          <a:bodyPr wrap="square" rtlCol="0">
            <a:spAutoFit/>
          </a:bodyPr>
          <a:lstStyle/>
          <a:p>
            <a:pPr marL="457200" indent="-457200">
              <a:buFont typeface="Arial" panose="020B0604020202020204" pitchFamily="34" charset="0"/>
              <a:buChar char="•"/>
            </a:pPr>
            <a:r>
              <a:rPr lang="en-US" sz="2800" dirty="0"/>
              <a:t>Customers without device protection have a churn rate of approximately </a:t>
            </a:r>
            <a:r>
              <a:rPr lang="en-US" sz="2800" b="1" dirty="0"/>
              <a:t>39.6%</a:t>
            </a:r>
            <a:r>
              <a:rPr lang="en-US" sz="2800" dirty="0"/>
              <a:t>, compared with </a:t>
            </a:r>
            <a:r>
              <a:rPr lang="en-US" sz="2800" b="1" dirty="0"/>
              <a:t>22.5%</a:t>
            </a:r>
            <a:r>
              <a:rPr lang="en-US" sz="2800" dirty="0"/>
              <a:t> among customers who have device protection. Customers with no internet service have the lowest churn rate at around </a:t>
            </a:r>
            <a:r>
              <a:rPr lang="en-US" sz="2800" b="1" dirty="0"/>
              <a:t>7.4%</a:t>
            </a:r>
            <a:r>
              <a:rPr lang="en-US" sz="2800" dirty="0"/>
              <a:t>.</a:t>
            </a:r>
            <a:endParaRPr lang="en-IN" sz="2800" dirty="0"/>
          </a:p>
        </p:txBody>
      </p:sp>
      <p:sp>
        <p:nvSpPr>
          <p:cNvPr id="5" name="TextBox 4">
            <a:extLst>
              <a:ext uri="{FF2B5EF4-FFF2-40B4-BE49-F238E27FC236}">
                <a16:creationId xmlns:a16="http://schemas.microsoft.com/office/drawing/2014/main" id="{DE54354E-75C8-BAD7-884C-071D90977024}"/>
              </a:ext>
            </a:extLst>
          </p:cNvPr>
          <p:cNvSpPr txBox="1"/>
          <p:nvPr/>
        </p:nvSpPr>
        <p:spPr>
          <a:xfrm>
            <a:off x="1905000" y="6591300"/>
            <a:ext cx="8077200" cy="2246769"/>
          </a:xfrm>
          <a:prstGeom prst="rect">
            <a:avLst/>
          </a:prstGeom>
          <a:noFill/>
        </p:spPr>
        <p:txBody>
          <a:bodyPr wrap="square" rtlCol="0">
            <a:spAutoFit/>
          </a:bodyPr>
          <a:lstStyle/>
          <a:p>
            <a:pPr marL="457200" indent="-457200">
              <a:buFont typeface="Arial" panose="020B0604020202020204" pitchFamily="34" charset="0"/>
              <a:buChar char="•"/>
            </a:pPr>
            <a:r>
              <a:rPr lang="en-US" sz="2800" dirty="0"/>
              <a:t>Customers without tech support have a churn rate of approximately </a:t>
            </a:r>
            <a:r>
              <a:rPr lang="en-US" sz="2800" b="1" dirty="0"/>
              <a:t>41.6%</a:t>
            </a:r>
            <a:r>
              <a:rPr lang="en-US" sz="2800" dirty="0"/>
              <a:t>, whereas customers with tech support have a much lower churn rate of approximately </a:t>
            </a:r>
            <a:r>
              <a:rPr lang="en-US" sz="2800" b="1" dirty="0"/>
              <a:t>15.2%</a:t>
            </a:r>
            <a:r>
              <a:rPr lang="en-US" sz="2800" dirty="0"/>
              <a:t>. Customers with no internet service have the lowest churn rate at around </a:t>
            </a:r>
            <a:r>
              <a:rPr lang="en-US" sz="2800" b="1" dirty="0"/>
              <a:t>7.4%</a:t>
            </a:r>
            <a:r>
              <a:rPr lang="en-US" sz="2800" dirty="0"/>
              <a:t>.</a:t>
            </a:r>
            <a:endParaRPr lang="en-IN" sz="2800" dirty="0"/>
          </a:p>
        </p:txBody>
      </p:sp>
    </p:spTree>
    <p:extLst>
      <p:ext uri="{BB962C8B-B14F-4D97-AF65-F5344CB8AC3E}">
        <p14:creationId xmlns:p14="http://schemas.microsoft.com/office/powerpoint/2010/main" val="691798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DC0BB-7937-B8AF-47D3-5F7A20DCE48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0AEFDCB-8561-B9A7-990C-D61EAFF7E7F3}"/>
              </a:ext>
            </a:extLst>
          </p:cNvPr>
          <p:cNvPicPr>
            <a:picLocks noChangeAspect="1"/>
          </p:cNvPicPr>
          <p:nvPr/>
        </p:nvPicPr>
        <p:blipFill>
          <a:blip r:embed="rId2"/>
          <a:stretch>
            <a:fillRect/>
          </a:stretch>
        </p:blipFill>
        <p:spPr>
          <a:xfrm>
            <a:off x="1600200" y="4229100"/>
            <a:ext cx="9185355" cy="4492598"/>
          </a:xfrm>
          <a:prstGeom prst="rect">
            <a:avLst/>
          </a:prstGeom>
        </p:spPr>
      </p:pic>
      <p:pic>
        <p:nvPicPr>
          <p:cNvPr id="5" name="Picture 4">
            <a:extLst>
              <a:ext uri="{FF2B5EF4-FFF2-40B4-BE49-F238E27FC236}">
                <a16:creationId xmlns:a16="http://schemas.microsoft.com/office/drawing/2014/main" id="{4A464643-17A1-C87B-8098-C24F8506B2C9}"/>
              </a:ext>
            </a:extLst>
          </p:cNvPr>
          <p:cNvPicPr>
            <a:picLocks noChangeAspect="1"/>
          </p:cNvPicPr>
          <p:nvPr/>
        </p:nvPicPr>
        <p:blipFill>
          <a:blip r:embed="rId3"/>
          <a:stretch>
            <a:fillRect/>
          </a:stretch>
        </p:blipFill>
        <p:spPr>
          <a:xfrm>
            <a:off x="10972800" y="4373400"/>
            <a:ext cx="6324600" cy="4203997"/>
          </a:xfrm>
          <a:prstGeom prst="rect">
            <a:avLst/>
          </a:prstGeom>
        </p:spPr>
      </p:pic>
      <p:sp>
        <p:nvSpPr>
          <p:cNvPr id="6" name="TextBox 5">
            <a:extLst>
              <a:ext uri="{FF2B5EF4-FFF2-40B4-BE49-F238E27FC236}">
                <a16:creationId xmlns:a16="http://schemas.microsoft.com/office/drawing/2014/main" id="{0A1A559F-83F5-AB76-343A-0B6849B58C1C}"/>
              </a:ext>
            </a:extLst>
          </p:cNvPr>
          <p:cNvSpPr txBox="1"/>
          <p:nvPr/>
        </p:nvSpPr>
        <p:spPr>
          <a:xfrm>
            <a:off x="1066800" y="1297282"/>
            <a:ext cx="12268200" cy="1569660"/>
          </a:xfrm>
          <a:prstGeom prst="rect">
            <a:avLst/>
          </a:prstGeom>
          <a:noFill/>
        </p:spPr>
        <p:txBody>
          <a:bodyPr wrap="square" rtlCol="0">
            <a:spAutoFit/>
          </a:bodyPr>
          <a:lstStyle/>
          <a:p>
            <a:r>
              <a:rPr lang="en-US" sz="4800" b="1" i="1" u="sng" dirty="0">
                <a:effectLst>
                  <a:outerShdw blurRad="38100" dist="38100" dir="2700000" algn="tl">
                    <a:srgbClr val="000000">
                      <a:alpha val="43137"/>
                    </a:srgbClr>
                  </a:outerShdw>
                </a:effectLst>
              </a:rPr>
              <a:t>MODEL PERFROMANCE AND EVALUTION</a:t>
            </a:r>
            <a:endParaRPr lang="en-IN" sz="4800" b="1" i="1" u="sng"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312559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16865-6375-2E07-26BD-322F8539FF67}"/>
            </a:ext>
          </a:extLst>
        </p:cNvPr>
        <p:cNvGrpSpPr/>
        <p:nvPr/>
      </p:nvGrpSpPr>
      <p:grpSpPr>
        <a:xfrm>
          <a:off x="0" y="0"/>
          <a:ext cx="0" cy="0"/>
          <a:chOff x="0" y="0"/>
          <a:chExt cx="0" cy="0"/>
        </a:xfrm>
      </p:grpSpPr>
      <p:sp>
        <p:nvSpPr>
          <p:cNvPr id="9" name="Text 0">
            <a:extLst>
              <a:ext uri="{FF2B5EF4-FFF2-40B4-BE49-F238E27FC236}">
                <a16:creationId xmlns:a16="http://schemas.microsoft.com/office/drawing/2014/main" id="{F8FE0260-3105-4B1B-AED8-CB382113313B}"/>
              </a:ext>
            </a:extLst>
          </p:cNvPr>
          <p:cNvSpPr/>
          <p:nvPr/>
        </p:nvSpPr>
        <p:spPr>
          <a:xfrm>
            <a:off x="457200" y="-800100"/>
            <a:ext cx="16191186" cy="5157470"/>
          </a:xfrm>
          <a:prstGeom prst="rect">
            <a:avLst/>
          </a:prstGeom>
          <a:noFill/>
          <a:ln/>
        </p:spPr>
        <p:txBody>
          <a:bodyPr wrap="square" rtlCol="0" anchor="ctr"/>
          <a:lstStyle/>
          <a:p>
            <a:pPr marL="0" indent="0">
              <a:buNone/>
            </a:pPr>
            <a:r>
              <a:rPr lang="en-US" sz="3200" b="1" dirty="0">
                <a:solidFill>
                  <a:srgbClr val="1F4788"/>
                </a:solidFill>
                <a:ea typeface="Calibri" pitchFamily="34" charset="-122"/>
                <a:cs typeface="Calibri" pitchFamily="34" charset="-120"/>
              </a:rPr>
              <a:t>EXECUTIVE SUMMARY</a:t>
            </a:r>
            <a:endParaRPr lang="en-US" sz="3200" dirty="0"/>
          </a:p>
        </p:txBody>
      </p:sp>
      <p:sp>
        <p:nvSpPr>
          <p:cNvPr id="10" name="Shape 1">
            <a:extLst>
              <a:ext uri="{FF2B5EF4-FFF2-40B4-BE49-F238E27FC236}">
                <a16:creationId xmlns:a16="http://schemas.microsoft.com/office/drawing/2014/main" id="{9C28E860-7A65-AE82-4012-9DC5BF67FC37}"/>
              </a:ext>
            </a:extLst>
          </p:cNvPr>
          <p:cNvSpPr/>
          <p:nvPr/>
        </p:nvSpPr>
        <p:spPr>
          <a:xfrm>
            <a:off x="457200" y="806957"/>
            <a:ext cx="16191186" cy="515747"/>
          </a:xfrm>
          <a:prstGeom prst="rect">
            <a:avLst/>
          </a:prstGeom>
          <a:solidFill>
            <a:schemeClr val="tx2">
              <a:lumMod val="40000"/>
              <a:lumOff val="60000"/>
            </a:schemeClr>
          </a:solidFill>
          <a:ln/>
        </p:spPr>
      </p:sp>
      <p:sp>
        <p:nvSpPr>
          <p:cNvPr id="11" name="Text 2">
            <a:extLst>
              <a:ext uri="{FF2B5EF4-FFF2-40B4-BE49-F238E27FC236}">
                <a16:creationId xmlns:a16="http://schemas.microsoft.com/office/drawing/2014/main" id="{28B4BE4A-AF6E-491D-10CE-F8AC491F062F}"/>
              </a:ext>
            </a:extLst>
          </p:cNvPr>
          <p:cNvSpPr/>
          <p:nvPr/>
        </p:nvSpPr>
        <p:spPr>
          <a:xfrm>
            <a:off x="727053" y="-326009"/>
            <a:ext cx="15651480" cy="6188964"/>
          </a:xfrm>
          <a:prstGeom prst="rect">
            <a:avLst/>
          </a:prstGeom>
          <a:noFill/>
          <a:ln/>
        </p:spPr>
        <p:txBody>
          <a:bodyPr wrap="square" rtlCol="0" anchor="ctr"/>
          <a:lstStyle/>
          <a:p>
            <a:pPr marL="342900" indent="-342900">
              <a:buSzPct val="100000"/>
              <a:buChar char="•"/>
            </a:pPr>
            <a:r>
              <a:rPr lang="en-US" sz="3200" dirty="0">
                <a:solidFill>
                  <a:srgbClr val="2D3436"/>
                </a:solidFill>
                <a:ea typeface="Calibri" pitchFamily="34" charset="-122"/>
                <a:cs typeface="Calibri" pitchFamily="34" charset="-120"/>
              </a:rPr>
              <a:t>Critical Churn Risk: 31% of customers churn within the first 2 months</a:t>
            </a:r>
            <a:endParaRPr lang="en-US" sz="3200" dirty="0"/>
          </a:p>
        </p:txBody>
      </p:sp>
      <p:sp>
        <p:nvSpPr>
          <p:cNvPr id="12" name="Text 3">
            <a:extLst>
              <a:ext uri="{FF2B5EF4-FFF2-40B4-BE49-F238E27FC236}">
                <a16:creationId xmlns:a16="http://schemas.microsoft.com/office/drawing/2014/main" id="{EB4AE994-AB4E-7B60-6804-D91B961BB9D6}"/>
              </a:ext>
            </a:extLst>
          </p:cNvPr>
          <p:cNvSpPr/>
          <p:nvPr/>
        </p:nvSpPr>
        <p:spPr>
          <a:xfrm>
            <a:off x="731520" y="539496"/>
            <a:ext cx="15651480" cy="6188964"/>
          </a:xfrm>
          <a:prstGeom prst="rect">
            <a:avLst/>
          </a:prstGeom>
          <a:noFill/>
          <a:ln/>
        </p:spPr>
        <p:txBody>
          <a:bodyPr wrap="square" rtlCol="0" anchor="ctr"/>
          <a:lstStyle/>
          <a:p>
            <a:pPr marL="342900" indent="-342900">
              <a:buSzPct val="100000"/>
              <a:buChar char="•"/>
            </a:pPr>
            <a:r>
              <a:rPr lang="en-US" sz="3200" dirty="0">
                <a:solidFill>
                  <a:srgbClr val="2D3436"/>
                </a:solidFill>
                <a:ea typeface="Calibri" pitchFamily="34" charset="-122"/>
                <a:cs typeface="Calibri" pitchFamily="34" charset="-120"/>
              </a:rPr>
              <a:t>Tenure Impact: Strong inverse correlation between tenure and churn (r=0.83)</a:t>
            </a:r>
            <a:endParaRPr lang="en-US" sz="3200" dirty="0"/>
          </a:p>
        </p:txBody>
      </p:sp>
      <p:sp>
        <p:nvSpPr>
          <p:cNvPr id="13" name="Text 4">
            <a:extLst>
              <a:ext uri="{FF2B5EF4-FFF2-40B4-BE49-F238E27FC236}">
                <a16:creationId xmlns:a16="http://schemas.microsoft.com/office/drawing/2014/main" id="{8674FA89-9AFB-8966-711F-07E4C5BF8E90}"/>
              </a:ext>
            </a:extLst>
          </p:cNvPr>
          <p:cNvSpPr/>
          <p:nvPr/>
        </p:nvSpPr>
        <p:spPr>
          <a:xfrm>
            <a:off x="731520" y="1179576"/>
            <a:ext cx="15651480" cy="6188964"/>
          </a:xfrm>
          <a:prstGeom prst="rect">
            <a:avLst/>
          </a:prstGeom>
          <a:noFill/>
          <a:ln/>
        </p:spPr>
        <p:txBody>
          <a:bodyPr wrap="square" rtlCol="0" anchor="ctr"/>
          <a:lstStyle/>
          <a:p>
            <a:pPr marL="342900" indent="-342900">
              <a:buSzPct val="100000"/>
              <a:buChar char="•"/>
            </a:pPr>
            <a:r>
              <a:rPr lang="en-US" sz="3200" dirty="0">
                <a:solidFill>
                  <a:srgbClr val="2D3436"/>
                </a:solidFill>
                <a:ea typeface="Calibri" pitchFamily="34" charset="-122"/>
                <a:cs typeface="Calibri" pitchFamily="34" charset="-120"/>
              </a:rPr>
              <a:t>Business Partner Model: Customers with partnerships show 75% better retention</a:t>
            </a:r>
            <a:endParaRPr lang="en-US" sz="3200" dirty="0"/>
          </a:p>
        </p:txBody>
      </p:sp>
      <p:sp>
        <p:nvSpPr>
          <p:cNvPr id="14" name="Text 5">
            <a:extLst>
              <a:ext uri="{FF2B5EF4-FFF2-40B4-BE49-F238E27FC236}">
                <a16:creationId xmlns:a16="http://schemas.microsoft.com/office/drawing/2014/main" id="{3755626D-38F4-14B0-F5B1-4EF4321929CD}"/>
              </a:ext>
            </a:extLst>
          </p:cNvPr>
          <p:cNvSpPr/>
          <p:nvPr/>
        </p:nvSpPr>
        <p:spPr>
          <a:xfrm>
            <a:off x="731520" y="1819656"/>
            <a:ext cx="15651480" cy="6188964"/>
          </a:xfrm>
          <a:prstGeom prst="rect">
            <a:avLst/>
          </a:prstGeom>
          <a:noFill/>
          <a:ln/>
        </p:spPr>
        <p:txBody>
          <a:bodyPr wrap="square" rtlCol="0" anchor="ctr"/>
          <a:lstStyle/>
          <a:p>
            <a:pPr marL="342900" indent="-342900">
              <a:buSzPct val="100000"/>
              <a:buChar char="•"/>
            </a:pPr>
            <a:r>
              <a:rPr lang="en-US" sz="3200" dirty="0">
                <a:solidFill>
                  <a:srgbClr val="2D3436"/>
                </a:solidFill>
                <a:ea typeface="Calibri" pitchFamily="34" charset="-122"/>
                <a:cs typeface="Calibri" pitchFamily="34" charset="-120"/>
              </a:rPr>
              <a:t>Service Dependencies: Tech support, device protection, and online security reduce churn</a:t>
            </a:r>
            <a:endParaRPr lang="en-US" sz="3200" dirty="0"/>
          </a:p>
        </p:txBody>
      </p:sp>
      <p:sp>
        <p:nvSpPr>
          <p:cNvPr id="15" name="Text 6">
            <a:extLst>
              <a:ext uri="{FF2B5EF4-FFF2-40B4-BE49-F238E27FC236}">
                <a16:creationId xmlns:a16="http://schemas.microsoft.com/office/drawing/2014/main" id="{B47A2849-717C-1F09-4B2B-73990CD940C9}"/>
              </a:ext>
            </a:extLst>
          </p:cNvPr>
          <p:cNvSpPr/>
          <p:nvPr/>
        </p:nvSpPr>
        <p:spPr>
          <a:xfrm>
            <a:off x="731520" y="2459736"/>
            <a:ext cx="15651480" cy="6188964"/>
          </a:xfrm>
          <a:prstGeom prst="rect">
            <a:avLst/>
          </a:prstGeom>
          <a:noFill/>
          <a:ln/>
        </p:spPr>
        <p:txBody>
          <a:bodyPr wrap="square" rtlCol="0" anchor="ctr"/>
          <a:lstStyle/>
          <a:p>
            <a:pPr marL="342900" indent="-342900">
              <a:buSzPct val="100000"/>
              <a:buChar char="•"/>
            </a:pPr>
            <a:r>
              <a:rPr lang="en-US" sz="3200" dirty="0">
                <a:solidFill>
                  <a:srgbClr val="2D3436"/>
                </a:solidFill>
                <a:ea typeface="Calibri" pitchFamily="34" charset="-122"/>
                <a:cs typeface="Calibri" pitchFamily="34" charset="-120"/>
              </a:rPr>
              <a:t>Revenue Opportunity: Month-to-month contracts generate 2x higher churn vs. annual plans</a:t>
            </a:r>
            <a:endParaRPr lang="en-US" sz="3200" dirty="0"/>
          </a:p>
        </p:txBody>
      </p:sp>
      <p:sp>
        <p:nvSpPr>
          <p:cNvPr id="2" name="Freeform 8">
            <a:extLst>
              <a:ext uri="{FF2B5EF4-FFF2-40B4-BE49-F238E27FC236}">
                <a16:creationId xmlns:a16="http://schemas.microsoft.com/office/drawing/2014/main" id="{99D88F9D-C3F1-106A-041A-CB3624C2A83F}"/>
              </a:ext>
            </a:extLst>
          </p:cNvPr>
          <p:cNvSpPr/>
          <p:nvPr/>
        </p:nvSpPr>
        <p:spPr>
          <a:xfrm rot="-1463030">
            <a:off x="14318956" y="6184397"/>
            <a:ext cx="2602096" cy="3287240"/>
          </a:xfrm>
          <a:custGeom>
            <a:avLst/>
            <a:gdLst/>
            <a:ahLst/>
            <a:cxnLst/>
            <a:rect l="l" t="t" r="r" b="b"/>
            <a:pathLst>
              <a:path w="2002935" h="2032498">
                <a:moveTo>
                  <a:pt x="0" y="0"/>
                </a:moveTo>
                <a:lnTo>
                  <a:pt x="2002935" y="0"/>
                </a:lnTo>
                <a:lnTo>
                  <a:pt x="2002935" y="2032498"/>
                </a:lnTo>
                <a:lnTo>
                  <a:pt x="0" y="20324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extLst>
      <p:ext uri="{BB962C8B-B14F-4D97-AF65-F5344CB8AC3E}">
        <p14:creationId xmlns:p14="http://schemas.microsoft.com/office/powerpoint/2010/main" val="2566877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D0B60-5971-A462-06D4-58D350BB0722}"/>
            </a:ext>
          </a:extLst>
        </p:cNvPr>
        <p:cNvGrpSpPr/>
        <p:nvPr/>
      </p:nvGrpSpPr>
      <p:grpSpPr>
        <a:xfrm>
          <a:off x="0" y="0"/>
          <a:ext cx="0" cy="0"/>
          <a:chOff x="0" y="0"/>
          <a:chExt cx="0" cy="0"/>
        </a:xfrm>
      </p:grpSpPr>
      <p:sp>
        <p:nvSpPr>
          <p:cNvPr id="9" name="Text 0">
            <a:extLst>
              <a:ext uri="{FF2B5EF4-FFF2-40B4-BE49-F238E27FC236}">
                <a16:creationId xmlns:a16="http://schemas.microsoft.com/office/drawing/2014/main" id="{32345C81-EA4A-08E6-F4DC-E17A97AB0805}"/>
              </a:ext>
            </a:extLst>
          </p:cNvPr>
          <p:cNvSpPr/>
          <p:nvPr/>
        </p:nvSpPr>
        <p:spPr>
          <a:xfrm>
            <a:off x="457200" y="-800100"/>
            <a:ext cx="16191186" cy="5157470"/>
          </a:xfrm>
          <a:prstGeom prst="rect">
            <a:avLst/>
          </a:prstGeom>
          <a:noFill/>
          <a:ln/>
        </p:spPr>
        <p:txBody>
          <a:bodyPr wrap="square" rtlCol="0" anchor="ctr"/>
          <a:lstStyle/>
          <a:p>
            <a:pPr marL="0" indent="0">
              <a:buNone/>
            </a:pPr>
            <a:r>
              <a:rPr lang="en-US" sz="3200" b="1" i="1" dirty="0">
                <a:effectLst>
                  <a:outerShdw blurRad="38100" dist="38100" dir="2700000" algn="tl">
                    <a:srgbClr val="000000">
                      <a:alpha val="43137"/>
                    </a:srgbClr>
                  </a:outerShdw>
                </a:effectLst>
              </a:rPr>
              <a:t>      </a:t>
            </a:r>
            <a:r>
              <a:rPr lang="en-US" sz="4000" b="1" i="1" dirty="0">
                <a:effectLst>
                  <a:outerShdw blurRad="38100" dist="38100" dir="2700000" algn="tl">
                    <a:srgbClr val="000000">
                      <a:alpha val="43137"/>
                    </a:srgbClr>
                  </a:outerShdw>
                </a:effectLst>
              </a:rPr>
              <a:t>BUSINESS INSIGHTS :</a:t>
            </a:r>
            <a:endParaRPr lang="en-US" sz="3200" b="1" i="1" u="sng" dirty="0">
              <a:effectLst>
                <a:outerShdw blurRad="38100" dist="38100" dir="2700000" algn="tl">
                  <a:srgbClr val="000000">
                    <a:alpha val="43137"/>
                  </a:srgbClr>
                </a:outerShdw>
              </a:effectLst>
            </a:endParaRPr>
          </a:p>
        </p:txBody>
      </p:sp>
      <p:sp>
        <p:nvSpPr>
          <p:cNvPr id="10" name="Shape 1">
            <a:extLst>
              <a:ext uri="{FF2B5EF4-FFF2-40B4-BE49-F238E27FC236}">
                <a16:creationId xmlns:a16="http://schemas.microsoft.com/office/drawing/2014/main" id="{9646E6A9-5466-465C-3D60-B53520ABCF45}"/>
              </a:ext>
            </a:extLst>
          </p:cNvPr>
          <p:cNvSpPr/>
          <p:nvPr/>
        </p:nvSpPr>
        <p:spPr>
          <a:xfrm>
            <a:off x="457200" y="806957"/>
            <a:ext cx="16191186" cy="515747"/>
          </a:xfrm>
          <a:prstGeom prst="rect">
            <a:avLst/>
          </a:prstGeom>
          <a:solidFill>
            <a:schemeClr val="tx2">
              <a:lumMod val="40000"/>
              <a:lumOff val="60000"/>
            </a:schemeClr>
          </a:solidFill>
          <a:ln/>
        </p:spPr>
      </p:sp>
      <p:sp>
        <p:nvSpPr>
          <p:cNvPr id="11" name="Text 2">
            <a:extLst>
              <a:ext uri="{FF2B5EF4-FFF2-40B4-BE49-F238E27FC236}">
                <a16:creationId xmlns:a16="http://schemas.microsoft.com/office/drawing/2014/main" id="{9DEC5D3E-2B42-F458-1DC7-5376701EF50A}"/>
              </a:ext>
            </a:extLst>
          </p:cNvPr>
          <p:cNvSpPr/>
          <p:nvPr/>
        </p:nvSpPr>
        <p:spPr>
          <a:xfrm>
            <a:off x="727053" y="-326009"/>
            <a:ext cx="15651480" cy="6188964"/>
          </a:xfrm>
          <a:prstGeom prst="rect">
            <a:avLst/>
          </a:prstGeom>
          <a:noFill/>
          <a:ln/>
        </p:spPr>
        <p:txBody>
          <a:bodyPr wrap="square" rtlCol="0" anchor="ctr"/>
          <a:lstStyle/>
          <a:p>
            <a:pPr marL="342900" indent="-342900">
              <a:buSzPct val="100000"/>
              <a:buChar char="•"/>
            </a:pPr>
            <a:endParaRPr lang="en-US" sz="3200" dirty="0"/>
          </a:p>
        </p:txBody>
      </p:sp>
      <p:sp>
        <p:nvSpPr>
          <p:cNvPr id="12" name="Text 3">
            <a:extLst>
              <a:ext uri="{FF2B5EF4-FFF2-40B4-BE49-F238E27FC236}">
                <a16:creationId xmlns:a16="http://schemas.microsoft.com/office/drawing/2014/main" id="{EEC83DFA-8BB1-9CC6-88F4-85CFD24F7A4C}"/>
              </a:ext>
            </a:extLst>
          </p:cNvPr>
          <p:cNvSpPr/>
          <p:nvPr/>
        </p:nvSpPr>
        <p:spPr>
          <a:xfrm>
            <a:off x="1941163" y="4440934"/>
            <a:ext cx="15651480" cy="6188964"/>
          </a:xfrm>
          <a:prstGeom prst="rect">
            <a:avLst/>
          </a:prstGeom>
          <a:noFill/>
          <a:ln/>
        </p:spPr>
        <p:txBody>
          <a:bodyPr wrap="square" rtlCol="0" anchor="ctr"/>
          <a:lstStyle/>
          <a:p>
            <a:pPr marL="342900" indent="-342900">
              <a:buSzPct val="100000"/>
              <a:buChar char="•"/>
            </a:pPr>
            <a:endParaRPr lang="en-US" sz="3200" dirty="0"/>
          </a:p>
        </p:txBody>
      </p:sp>
      <p:sp>
        <p:nvSpPr>
          <p:cNvPr id="13" name="Text 4">
            <a:extLst>
              <a:ext uri="{FF2B5EF4-FFF2-40B4-BE49-F238E27FC236}">
                <a16:creationId xmlns:a16="http://schemas.microsoft.com/office/drawing/2014/main" id="{12444454-8E81-6959-EA5A-2AD9644E64D9}"/>
              </a:ext>
            </a:extLst>
          </p:cNvPr>
          <p:cNvSpPr/>
          <p:nvPr/>
        </p:nvSpPr>
        <p:spPr>
          <a:xfrm>
            <a:off x="731520" y="1179576"/>
            <a:ext cx="15651480" cy="6188964"/>
          </a:xfrm>
          <a:prstGeom prst="rect">
            <a:avLst/>
          </a:prstGeom>
          <a:noFill/>
          <a:ln/>
        </p:spPr>
        <p:txBody>
          <a:bodyPr wrap="square" rtlCol="0" anchor="ctr"/>
          <a:lstStyle/>
          <a:p>
            <a:pPr marL="1714500" lvl="3" indent="-342900">
              <a:buSzPct val="100000"/>
              <a:buChar char="•"/>
            </a:pPr>
            <a:endParaRPr lang="en-US" sz="3200" dirty="0"/>
          </a:p>
        </p:txBody>
      </p:sp>
      <p:sp>
        <p:nvSpPr>
          <p:cNvPr id="14" name="Text 5">
            <a:extLst>
              <a:ext uri="{FF2B5EF4-FFF2-40B4-BE49-F238E27FC236}">
                <a16:creationId xmlns:a16="http://schemas.microsoft.com/office/drawing/2014/main" id="{D23824AB-89F1-CE36-CE95-0EBDC37B76B7}"/>
              </a:ext>
            </a:extLst>
          </p:cNvPr>
          <p:cNvSpPr/>
          <p:nvPr/>
        </p:nvSpPr>
        <p:spPr>
          <a:xfrm>
            <a:off x="4419600" y="2455670"/>
            <a:ext cx="11963400" cy="5552950"/>
          </a:xfrm>
          <a:prstGeom prst="rect">
            <a:avLst/>
          </a:prstGeom>
          <a:noFill/>
          <a:ln/>
        </p:spPr>
        <p:txBody>
          <a:bodyPr wrap="square" rtlCol="0" anchor="ctr"/>
          <a:lstStyle/>
          <a:p>
            <a:pPr marL="342900" indent="-342900">
              <a:buSzPct val="100000"/>
              <a:buChar char="•"/>
            </a:pPr>
            <a:endParaRPr lang="en-US" sz="3200" dirty="0"/>
          </a:p>
        </p:txBody>
      </p:sp>
      <p:sp>
        <p:nvSpPr>
          <p:cNvPr id="15" name="Text 6">
            <a:extLst>
              <a:ext uri="{FF2B5EF4-FFF2-40B4-BE49-F238E27FC236}">
                <a16:creationId xmlns:a16="http://schemas.microsoft.com/office/drawing/2014/main" id="{19D7CE82-3CC2-5A17-C99E-FBEF46E7C3D3}"/>
              </a:ext>
            </a:extLst>
          </p:cNvPr>
          <p:cNvSpPr/>
          <p:nvPr/>
        </p:nvSpPr>
        <p:spPr>
          <a:xfrm>
            <a:off x="731520" y="2459736"/>
            <a:ext cx="15651480" cy="6188964"/>
          </a:xfrm>
          <a:prstGeom prst="rect">
            <a:avLst/>
          </a:prstGeom>
          <a:noFill/>
          <a:ln/>
        </p:spPr>
        <p:txBody>
          <a:bodyPr wrap="square" rtlCol="0" anchor="ctr"/>
          <a:lstStyle/>
          <a:p>
            <a:pPr>
              <a:buSzPct val="100000"/>
            </a:pPr>
            <a:endParaRPr lang="en-US" sz="3200" dirty="0"/>
          </a:p>
        </p:txBody>
      </p:sp>
      <p:sp>
        <p:nvSpPr>
          <p:cNvPr id="6" name="Rectangle 3">
            <a:extLst>
              <a:ext uri="{FF2B5EF4-FFF2-40B4-BE49-F238E27FC236}">
                <a16:creationId xmlns:a16="http://schemas.microsoft.com/office/drawing/2014/main" id="{2A975451-86B1-9BC9-BCB6-96B03E248CA6}"/>
              </a:ext>
            </a:extLst>
          </p:cNvPr>
          <p:cNvSpPr>
            <a:spLocks noChangeArrowheads="1"/>
          </p:cNvSpPr>
          <p:nvPr/>
        </p:nvSpPr>
        <p:spPr bwMode="auto">
          <a:xfrm>
            <a:off x="1639614" y="1921180"/>
            <a:ext cx="12808529"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7" defTabSz="914400" eaLnBrk="0" fontAlgn="base" hangingPunct="0">
              <a:spcBef>
                <a:spcPct val="0"/>
              </a:spcBef>
              <a:spcAft>
                <a:spcPct val="0"/>
              </a:spcAft>
            </a:pPr>
            <a:r>
              <a:rPr kumimoji="0" lang="en-US" altLang="en-US" sz="2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rPr>
              <a:t>Offer support packages or proactive assistance.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rPr>
              <a:t>Contact high-risk customers before they churn.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rPr>
              <a:t>Monitor whether providing support improves rete.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rPr>
              <a:t> </a:t>
            </a:r>
            <a:r>
              <a:rPr lang="en-US" altLang="en-US" sz="4000" dirty="0"/>
              <a:t>Offer device protection as on optimal package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4000" dirty="0"/>
              <a:t>Provide targeted offers to customers without device protection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rPr>
              <a:t>Combin</a:t>
            </a:r>
            <a:r>
              <a:rPr lang="en-US" altLang="en-US" sz="4000" dirty="0"/>
              <a:t>e device protection  with retention campaigns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4000" dirty="0"/>
              <a:t>Mostly New Customer are likely to Churn So To avoid it we could bring plan  so we could  avoid churn of new customers  </a:t>
            </a:r>
            <a:endParaRPr kumimoji="0" lang="en-US" altLang="en-US" sz="4000" b="0" i="0" u="none" strike="noStrike" cap="none" normalizeH="0" baseline="0" dirty="0">
              <a:ln>
                <a:noFill/>
              </a:ln>
              <a:solidFill>
                <a:schemeClr val="tx1"/>
              </a:solidFill>
              <a:effectLst/>
            </a:endParaRPr>
          </a:p>
        </p:txBody>
      </p:sp>
      <p:sp>
        <p:nvSpPr>
          <p:cNvPr id="8" name="Freeform 4">
            <a:extLst>
              <a:ext uri="{FF2B5EF4-FFF2-40B4-BE49-F238E27FC236}">
                <a16:creationId xmlns:a16="http://schemas.microsoft.com/office/drawing/2014/main" id="{498BD68D-43B9-E451-EDAF-C6550486E5D2}"/>
              </a:ext>
            </a:extLst>
          </p:cNvPr>
          <p:cNvSpPr/>
          <p:nvPr/>
        </p:nvSpPr>
        <p:spPr>
          <a:xfrm flipH="1">
            <a:off x="970884" y="8042845"/>
            <a:ext cx="1868232" cy="1430047"/>
          </a:xfrm>
          <a:custGeom>
            <a:avLst/>
            <a:gdLst/>
            <a:ahLst/>
            <a:cxnLst/>
            <a:rect l="l" t="t" r="r" b="b"/>
            <a:pathLst>
              <a:path w="1868232" h="1430047">
                <a:moveTo>
                  <a:pt x="1868232" y="0"/>
                </a:moveTo>
                <a:lnTo>
                  <a:pt x="0" y="0"/>
                </a:lnTo>
                <a:lnTo>
                  <a:pt x="0" y="1430047"/>
                </a:lnTo>
                <a:lnTo>
                  <a:pt x="1868232" y="1430047"/>
                </a:lnTo>
                <a:lnTo>
                  <a:pt x="1868232"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6" name="Freeform 8">
            <a:extLst>
              <a:ext uri="{FF2B5EF4-FFF2-40B4-BE49-F238E27FC236}">
                <a16:creationId xmlns:a16="http://schemas.microsoft.com/office/drawing/2014/main" id="{42DE6160-54E7-48C9-DD66-51EEA321E1EE}"/>
              </a:ext>
            </a:extLst>
          </p:cNvPr>
          <p:cNvSpPr/>
          <p:nvPr/>
        </p:nvSpPr>
        <p:spPr>
          <a:xfrm rot="-1463030">
            <a:off x="14778368" y="1448780"/>
            <a:ext cx="2002935" cy="2032498"/>
          </a:xfrm>
          <a:custGeom>
            <a:avLst/>
            <a:gdLst/>
            <a:ahLst/>
            <a:cxnLst/>
            <a:rect l="l" t="t" r="r" b="b"/>
            <a:pathLst>
              <a:path w="2002935" h="2032498">
                <a:moveTo>
                  <a:pt x="0" y="0"/>
                </a:moveTo>
                <a:lnTo>
                  <a:pt x="2002935" y="0"/>
                </a:lnTo>
                <a:lnTo>
                  <a:pt x="2002935" y="2032498"/>
                </a:lnTo>
                <a:lnTo>
                  <a:pt x="0" y="203249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extLst>
      <p:ext uri="{BB962C8B-B14F-4D97-AF65-F5344CB8AC3E}">
        <p14:creationId xmlns:p14="http://schemas.microsoft.com/office/powerpoint/2010/main" val="42937120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62052" y="-266700"/>
            <a:ext cx="16230600" cy="6394830"/>
            <a:chOff x="0" y="0"/>
            <a:chExt cx="2750634" cy="1083745"/>
          </a:xfrm>
        </p:grpSpPr>
        <p:sp>
          <p:nvSpPr>
            <p:cNvPr id="3" name="Freeform 3"/>
            <p:cNvSpPr/>
            <p:nvPr/>
          </p:nvSpPr>
          <p:spPr>
            <a:xfrm>
              <a:off x="0" y="0"/>
              <a:ext cx="2750633" cy="1083745"/>
            </a:xfrm>
            <a:custGeom>
              <a:avLst/>
              <a:gdLst/>
              <a:ahLst/>
              <a:cxnLst/>
              <a:rect l="l" t="t" r="r" b="b"/>
              <a:pathLst>
                <a:path w="2750633" h="1083745">
                  <a:moveTo>
                    <a:pt x="24804" y="0"/>
                  </a:moveTo>
                  <a:lnTo>
                    <a:pt x="2725830" y="0"/>
                  </a:lnTo>
                  <a:cubicBezTo>
                    <a:pt x="2732408" y="0"/>
                    <a:pt x="2738717" y="2613"/>
                    <a:pt x="2743369" y="7265"/>
                  </a:cubicBezTo>
                  <a:cubicBezTo>
                    <a:pt x="2748020" y="11916"/>
                    <a:pt x="2750633" y="18225"/>
                    <a:pt x="2750633" y="24804"/>
                  </a:cubicBezTo>
                  <a:lnTo>
                    <a:pt x="2750633" y="1058941"/>
                  </a:lnTo>
                  <a:cubicBezTo>
                    <a:pt x="2750633" y="1072640"/>
                    <a:pt x="2739529" y="1083745"/>
                    <a:pt x="2725830" y="1083745"/>
                  </a:cubicBezTo>
                  <a:lnTo>
                    <a:pt x="24804" y="1083745"/>
                  </a:lnTo>
                  <a:cubicBezTo>
                    <a:pt x="18225" y="1083745"/>
                    <a:pt x="11916" y="1081132"/>
                    <a:pt x="7265" y="1076480"/>
                  </a:cubicBezTo>
                  <a:cubicBezTo>
                    <a:pt x="2613" y="1071829"/>
                    <a:pt x="0" y="1065520"/>
                    <a:pt x="0" y="1058941"/>
                  </a:cubicBezTo>
                  <a:lnTo>
                    <a:pt x="0" y="24804"/>
                  </a:lnTo>
                  <a:cubicBezTo>
                    <a:pt x="0" y="18225"/>
                    <a:pt x="2613" y="11916"/>
                    <a:pt x="7265" y="7265"/>
                  </a:cubicBezTo>
                  <a:cubicBezTo>
                    <a:pt x="11916" y="2613"/>
                    <a:pt x="18225" y="0"/>
                    <a:pt x="24804" y="0"/>
                  </a:cubicBezTo>
                  <a:close/>
                </a:path>
              </a:pathLst>
            </a:custGeom>
            <a:blipFill>
              <a:blip r:embed="rId2"/>
              <a:stretch>
                <a:fillRect t="-34549" b="-34549"/>
              </a:stretch>
            </a:blipFill>
          </p:spPr>
        </p:sp>
      </p:grpSp>
      <p:sp>
        <p:nvSpPr>
          <p:cNvPr id="4" name="Freeform 4"/>
          <p:cNvSpPr/>
          <p:nvPr/>
        </p:nvSpPr>
        <p:spPr>
          <a:xfrm flipH="1">
            <a:off x="976259" y="7186018"/>
            <a:ext cx="1868232" cy="1430047"/>
          </a:xfrm>
          <a:custGeom>
            <a:avLst/>
            <a:gdLst/>
            <a:ahLst/>
            <a:cxnLst/>
            <a:rect l="l" t="t" r="r" b="b"/>
            <a:pathLst>
              <a:path w="1868232" h="1430047">
                <a:moveTo>
                  <a:pt x="1868232" y="0"/>
                </a:moveTo>
                <a:lnTo>
                  <a:pt x="0" y="0"/>
                </a:lnTo>
                <a:lnTo>
                  <a:pt x="0" y="1430047"/>
                </a:lnTo>
                <a:lnTo>
                  <a:pt x="1868232" y="1430047"/>
                </a:lnTo>
                <a:lnTo>
                  <a:pt x="1868232"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rot="-1268343" flipH="1">
            <a:off x="16040102" y="8193191"/>
            <a:ext cx="1885693" cy="1422841"/>
          </a:xfrm>
          <a:custGeom>
            <a:avLst/>
            <a:gdLst/>
            <a:ahLst/>
            <a:cxnLst/>
            <a:rect l="l" t="t" r="r" b="b"/>
            <a:pathLst>
              <a:path w="1885693" h="1422841">
                <a:moveTo>
                  <a:pt x="1885693" y="0"/>
                </a:moveTo>
                <a:lnTo>
                  <a:pt x="0" y="0"/>
                </a:lnTo>
                <a:lnTo>
                  <a:pt x="0" y="1422841"/>
                </a:lnTo>
                <a:lnTo>
                  <a:pt x="1885693" y="1422841"/>
                </a:lnTo>
                <a:lnTo>
                  <a:pt x="1885693"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4166093" y="6247627"/>
            <a:ext cx="9822518" cy="1068070"/>
          </a:xfrm>
          <a:prstGeom prst="rect">
            <a:avLst/>
          </a:prstGeom>
        </p:spPr>
        <p:txBody>
          <a:bodyPr lIns="0" tIns="0" rIns="0" bIns="0" rtlCol="0" anchor="t">
            <a:spAutoFit/>
          </a:bodyPr>
          <a:lstStyle/>
          <a:p>
            <a:pPr algn="ctr">
              <a:lnSpc>
                <a:spcPts val="6800"/>
              </a:lnSpc>
            </a:pPr>
            <a:r>
              <a:rPr lang="en-US" sz="6800" spc="-374" dirty="0">
                <a:solidFill>
                  <a:srgbClr val="0B0A0A"/>
                </a:solidFill>
                <a:latin typeface="Heading Now 71-78"/>
                <a:ea typeface="Heading Now 71-78"/>
                <a:cs typeface="Heading Now 71-78"/>
                <a:sym typeface="Heading Now 71-78"/>
              </a:rPr>
              <a:t>Thank you so much</a:t>
            </a: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5799</TotalTime>
  <Words>883</Words>
  <Application>Microsoft Office PowerPoint</Application>
  <PresentationFormat>Custom</PresentationFormat>
  <Paragraphs>52</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TT Firs Neue</vt:lpstr>
      <vt:lpstr>Heading Now 71-78</vt:lpstr>
      <vt:lpstr>Garamond</vt:lpstr>
      <vt:lpstr>Calibri</vt:lpstr>
      <vt:lpstr>Arial</vt:lpstr>
      <vt:lpstr>Algerian</vt:lpstr>
      <vt:lpstr>TT Firs Neue Bold</vt:lpstr>
      <vt:lpstr>Organic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INDIRA DEVI SENTHIL KUMAR</cp:lastModifiedBy>
  <cp:revision>5</cp:revision>
  <dcterms:created xsi:type="dcterms:W3CDTF">2006-08-16T00:00:00Z</dcterms:created>
  <dcterms:modified xsi:type="dcterms:W3CDTF">2026-09-17T12:28:47Z</dcterms:modified>
  <dc:identifier>DAHTvxemR0w</dc:identifier>
</cp:coreProperties>
</file>